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judges and organizers. Today, we present 'Deciphering the Indian Data Science Labour Market'. Our mission is to replace pervasive career myths with hard empirical evidence. We bridge macroeconomic job postings with individual psychometric and technical micro-evaluations, directly powering our platform: Punarshuru.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Indian data science sector is exploding, yet it suffers from acute human friction. Career restarters, freshers, and stagnant professionals all make career decisions based on anecdotal advice or ed-tech marketing rather than empirical facts.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formalized four core research questions covering macro wage equations, junior skill hike multipliers, senior psychometric success drivers, and production engineering translation. Every hypothesis was tested with strict statistical rigor.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complete five-stage pipeline. It is completely reproducible, governed by a global random seed of 42. It moves from raw data forensic cleaning all the way to serialized production models powering the Punarshuru platform.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labour data is notoriously noisy. Many teams make the fatal mistake of dropping rows naively or ignoring spam. We performed deep forensic auditing, proving that reference ID duplicates were scraper batch IDs and filtering 157 data-entry spam rows.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macroeconomic salary distribution across 1,602 verified data science postings. One-way ANOVA confirms role classification is overwhelmingly significant (p = 8.67e-210), explaining over 41% of wage dispersion. Data Architects top the market at 24 LPA.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Bangalore and Hyderabad dominate compensation benchmarks with medians of 14 and 13 LPA respectively. We discovered a 43.2% wage premium for Tier-1 hubs over Tier-2 locations. This provides critical guidance for career restarters deciding on remote vs. onsite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estimated an empirical Mincerian wage equation. Each additional year of experience in Indian data science adds ₹1.64 Lakhs per annum to base compensation. This replaces arbitrary quadratic curves previously hardcoded in the frontend with a verified econometric standard.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Pareto analysis demonstrates that just 15 employers account for over 52% of total open vacancies. However, volume does not equal value: IT service giants drive mass entry-level volume, while GCCs drive high compensation.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and SQL are table stakes—mentioned in over 70% of postings. But high salary alpha is captured by candidates who combine foundational math with modern deep learning and business storytelling.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dive into micro-evaluations: N=139 junior data scientists. High hike candidates score significantly higher in storytelling and mathematical foundations. Notice the massive Cohen's d effect sizes above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most powerful empirical discovery: The Big Data Trap. Junior candidates spend months learning Spark and Hadoop, yet our t-tests show big data skills have zero statistically significant impact on high salary hikes (p = 0.195). Business storytelling and math are what truly pay.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control for all technical skills simultaneously in multivariable Logistic Regression, Maths &amp; Stats multiplies high hike odds by 6.18x, and Dashboard &amp; Storytelling multiplies odds by 3.88x. Baseline coding becomes non-significant once advanced math and storytelling are controlled for.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benchmarked four machine learning classifiers using 5-Fold Stratified Cross-Validation. L2-Regularized Logistic Regression achieved a stellar ROC-AUC of 0.903. Because of its calibration and interpretability, we serialized it as our production engine.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5 years of experience, technical capability is assumed. What separates senior leaders from stagnant individual contributors? The Big Five personality framework gives us empirical answers: Conscientiousness and Openness exhibit massive Cohen's d values above 1.8.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this fascinating result: Neuroticism scores are virtually identical between high and low success leaders (p = 0.941). Leadership success does not require eliminating stress; it requires high conscientiousness, openness, and assertive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multivariable logistic model, each 10-point increase in Openness yields a staggering 14.7x multiplier in high success odds, and Conscientiousness yields a 12.0x multiplier. The model explains over 75% of variance with Pseudo R² = 0.7567.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5-fold cross-validation, Random Forest achieves an astonishing 0.995 ROC-AUC and 95% accuracy. Psychometric traits provide near-deterministic classification of senior executive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three overarching axioms: First, junior velocity comes from storytelling and math, not big data tools. Second, senior ascension requires conscientiousness and architectural openness. Third, geographic arbitrage offers an instant 43% boost.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Punarshuru translates these statistical models into production software. Our FastAPI backend exposes high-performance inference APIs, while our React frontend renders interactive, responsive career guidance widgets.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career restarters, Punarshuru removes the psychological fear of obsolescence. By focusing on storytelling and verified pay benchmarks, returning professionals avoid lowball offers and accelerate their return.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students, our CareerReadinessScan uses the JDS Logistic Regression model to evaluate graduation readiness. Students receive an objective, mathematically validated probability of achieving a top-tier salary hike.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stagnant professionals stuck at 15 LPA, we introduce SeniorExecutiveReadiness. By diagnosing conscientiousness and openness, Punarshuru prescribes behavioural and leadership pivots rather than redundant coding courses.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our commitment to engineering integrity. Every mock dataset and hardcoded heuristic in Punarshuru has been audited and mapped to a real econometric dataset or serialized machine learning model.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transformed raw labour market chaos into structured human empowerment. Our findings provide actionable guidance for restarters, students, and senior professionals alike. We thank the judges and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66960" cy="3474720"/>
          </a:xfrm>
          <a:prstGeom prst="rect">
            <a:avLst/>
          </a:prstGeom>
          <a:noFill/>
        </p:spPr>
        <p:txBody>
          <a:bodyPr wrap="square">
            <a:spAutoFit/>
          </a:bodyPr>
          <a:lstStyle/>
          <a:p>
            <a:pPr>
              <a:spcAft>
                <a:spcPts val="1200"/>
              </a:spcAft>
            </a:pPr>
            <a:r>
              <a:rPr sz="1300" b="1">
                <a:solidFill>
                  <a:srgbClr val="60A5FA"/>
                </a:solidFill>
                <a:latin typeface="Arial"/>
              </a:rPr>
              <a:t>SAS × CHANDIGARH UNIVERSITY NATIONAL HACKATHON 2026</a:t>
            </a:r>
          </a:p>
          <a:p>
            <a:pPr>
              <a:spcAft>
                <a:spcPts val="1000"/>
              </a:spcAft>
            </a:pPr>
            <a:r>
              <a:rPr sz="3200" b="1">
                <a:solidFill>
                  <a:srgbClr val="FFFFFF"/>
                </a:solidFill>
                <a:latin typeface="Arial"/>
              </a:rPr>
              <a:t>Deciphering the Indian Data Science Labour Market</a:t>
            </a:r>
          </a:p>
          <a:p>
            <a:pPr>
              <a:spcAft>
                <a:spcPts val="2800"/>
              </a:spcAft>
            </a:pPr>
            <a:r>
              <a:rPr sz="1600">
                <a:solidFill>
                  <a:srgbClr val="94A3B8"/>
                </a:solidFill>
                <a:latin typeface="Arial"/>
              </a:rPr>
              <a:t>Empirical Evidence on Macro Demand, Junior Skill Multipliers, and Senior Executive Trait Predictors for Personalised Career Guidance</a:t>
            </a:r>
          </a:p>
          <a:p>
            <a:r>
              <a:rPr sz="1200" b="1">
                <a:solidFill>
                  <a:srgbClr val="FFFFFF"/>
                </a:solidFill>
                <a:latin typeface="Arial"/>
              </a:rPr>
              <a:t>Platform: Punarshuru  |  Authoring Team: Punarshuru AI Lab  |  Reproducibility: Seed 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The Labour Market Dilemma: Information Asymmetry &amp; Human Friction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2918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1. Career Restarters</a:t>
            </a:r>
          </a:p>
          <a:p>
            <a:pPr>
              <a:spcAft>
                <a:spcPts val="400"/>
              </a:spcAft>
            </a:pPr>
            <a:r>
              <a:rPr sz="1100">
                <a:solidFill>
                  <a:srgbClr val="1E293B"/>
                </a:solidFill>
                <a:latin typeface="Arial"/>
              </a:rPr>
              <a:t>• Primarily women returning from caregiving or sabbaticals.</a:t>
            </a:r>
          </a:p>
          <a:p>
            <a:pPr>
              <a:spcAft>
                <a:spcPts val="400"/>
              </a:spcAft>
            </a:pPr>
            <a:r>
              <a:rPr sz="1100">
                <a:solidFill>
                  <a:srgbClr val="1E293B"/>
                </a:solidFill>
                <a:latin typeface="Arial"/>
              </a:rPr>
              <a:t>• Encounter severe wage penalties and outdated expectations.</a:t>
            </a:r>
          </a:p>
          <a:p>
            <a:pPr>
              <a:spcAft>
                <a:spcPts val="400"/>
              </a:spcAft>
            </a:pPr>
            <a:r>
              <a:rPr sz="1100">
                <a:solidFill>
                  <a:srgbClr val="1E293B"/>
                </a:solidFill>
                <a:latin typeface="Arial"/>
              </a:rPr>
              <a:t>• Paralyzed by perceived technical obsolescence.</a:t>
            </a:r>
          </a:p>
          <a:p>
            <a:pPr>
              <a:spcAft>
                <a:spcPts val="400"/>
              </a:spcAft>
            </a:pPr>
            <a:r>
              <a:rPr sz="1100">
                <a:solidFill>
                  <a:srgbClr val="1E293B"/>
                </a:solidFill>
                <a:latin typeface="Arial"/>
              </a:rPr>
              <a:t>• Lack empirical proof of which re-entry skills pay off.</a:t>
            </a:r>
          </a:p>
        </p:txBody>
      </p:sp>
      <p:sp>
        <p:nvSpPr>
          <p:cNvPr id="6" name="Rounded Rectangle 5"/>
          <p:cNvSpPr/>
          <p:nvPr/>
        </p:nvSpPr>
        <p:spPr>
          <a:xfrm>
            <a:off x="4389120" y="1645920"/>
            <a:ext cx="32918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2. University Students &amp; Freshers</a:t>
            </a:r>
          </a:p>
          <a:p>
            <a:pPr>
              <a:spcAft>
                <a:spcPts val="400"/>
              </a:spcAft>
            </a:pPr>
            <a:r>
              <a:rPr sz="1100">
                <a:solidFill>
                  <a:srgbClr val="1E293B"/>
                </a:solidFill>
                <a:latin typeface="Arial"/>
              </a:rPr>
              <a:t>• Graduates flooded with aggressive ed-tech marketing.</a:t>
            </a:r>
          </a:p>
          <a:p>
            <a:pPr>
              <a:spcAft>
                <a:spcPts val="400"/>
              </a:spcAft>
            </a:pPr>
            <a:r>
              <a:rPr sz="1100">
                <a:solidFill>
                  <a:srgbClr val="1E293B"/>
                </a:solidFill>
                <a:latin typeface="Arial"/>
              </a:rPr>
              <a:t>• Waste time learning complex distributed systems (Hadoop).</a:t>
            </a:r>
          </a:p>
          <a:p>
            <a:pPr>
              <a:spcAft>
                <a:spcPts val="400"/>
              </a:spcAft>
            </a:pPr>
            <a:r>
              <a:rPr sz="1100">
                <a:solidFill>
                  <a:srgbClr val="1E293B"/>
                </a:solidFill>
                <a:latin typeface="Arial"/>
              </a:rPr>
              <a:t>• Lack clarity on what hiring managers actually reward.</a:t>
            </a:r>
          </a:p>
          <a:p>
            <a:pPr>
              <a:spcAft>
                <a:spcPts val="400"/>
              </a:spcAft>
            </a:pPr>
            <a:r>
              <a:rPr sz="1100">
                <a:solidFill>
                  <a:srgbClr val="1E293B"/>
                </a:solidFill>
                <a:latin typeface="Arial"/>
              </a:rPr>
              <a:t>• No empirical compass to prioritize limited study hours.</a:t>
            </a:r>
          </a:p>
        </p:txBody>
      </p:sp>
      <p:sp>
        <p:nvSpPr>
          <p:cNvPr id="8" name="Rounded Rectangle 7"/>
          <p:cNvSpPr/>
          <p:nvPr/>
        </p:nvSpPr>
        <p:spPr>
          <a:xfrm>
            <a:off x="8046720" y="1645920"/>
            <a:ext cx="32918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3. Stagnant Mid-Career Pros</a:t>
            </a:r>
          </a:p>
          <a:p>
            <a:pPr>
              <a:spcAft>
                <a:spcPts val="400"/>
              </a:spcAft>
            </a:pPr>
            <a:r>
              <a:rPr sz="1100">
                <a:solidFill>
                  <a:srgbClr val="1E293B"/>
                </a:solidFill>
                <a:latin typeface="Arial"/>
              </a:rPr>
              <a:t>• Individual contributors plateaued at 4–10 years exp.</a:t>
            </a:r>
          </a:p>
          <a:p>
            <a:pPr>
              <a:spcAft>
                <a:spcPts val="400"/>
              </a:spcAft>
            </a:pPr>
            <a:r>
              <a:rPr sz="1100">
                <a:solidFill>
                  <a:srgbClr val="1E293B"/>
                </a:solidFill>
                <a:latin typeface="Arial"/>
              </a:rPr>
              <a:t>• Trapped in 12–15 LPA bands despite strong technical skills.</a:t>
            </a:r>
          </a:p>
          <a:p>
            <a:pPr>
              <a:spcAft>
                <a:spcPts val="400"/>
              </a:spcAft>
            </a:pPr>
            <a:r>
              <a:rPr sz="1100">
                <a:solidFill>
                  <a:srgbClr val="1E293B"/>
                </a:solidFill>
                <a:latin typeface="Arial"/>
              </a:rPr>
              <a:t>• Fail to transition into executive &amp; client leadership.</a:t>
            </a:r>
          </a:p>
          <a:p>
            <a:pPr>
              <a:spcAft>
                <a:spcPts val="400"/>
              </a:spcAft>
            </a:pPr>
            <a:r>
              <a:rPr sz="1100">
                <a:solidFill>
                  <a:srgbClr val="1E293B"/>
                </a:solidFill>
                <a:latin typeface="Arial"/>
              </a:rPr>
              <a:t>• Blind to the psychometric drivers of senior success.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Central Research Questions &amp; Scientific Hypotheses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219456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1920240"/>
          </a:xfrm>
          <a:prstGeom prst="rect">
            <a:avLst/>
          </a:prstGeom>
          <a:noFill/>
        </p:spPr>
        <p:txBody>
          <a:bodyPr wrap="square" tIns="0" lIns="0" rIns="0">
            <a:spAutoFit/>
          </a:bodyPr>
          <a:lstStyle/>
          <a:p>
            <a:pPr>
              <a:spcAft>
                <a:spcPts val="600"/>
              </a:spcAft>
            </a:pPr>
            <a:r>
              <a:rPr sz="1300" b="1">
                <a:solidFill>
                  <a:srgbClr val="0F172A"/>
                </a:solidFill>
                <a:latin typeface="Arial"/>
              </a:rPr>
              <a:t>Q1: Macro Demand &amp; Compensation Hierarchy</a:t>
            </a:r>
          </a:p>
          <a:p>
            <a:pPr>
              <a:spcAft>
                <a:spcPts val="400"/>
              </a:spcAft>
            </a:pPr>
            <a:r>
              <a:rPr sz="1100">
                <a:solidFill>
                  <a:srgbClr val="1E293B"/>
                </a:solidFill>
                <a:latin typeface="Arial"/>
              </a:rPr>
              <a:t>• What is the empirical wage curve across functional roles?</a:t>
            </a:r>
          </a:p>
          <a:p>
            <a:pPr>
              <a:spcAft>
                <a:spcPts val="400"/>
              </a:spcAft>
            </a:pPr>
            <a:r>
              <a:rPr sz="1100">
                <a:solidFill>
                  <a:srgbClr val="1E293B"/>
                </a:solidFill>
                <a:latin typeface="Arial"/>
              </a:rPr>
              <a:t>• What is the exact Mincerian return per year of experience?</a:t>
            </a:r>
          </a:p>
          <a:p>
            <a:pPr>
              <a:spcAft>
                <a:spcPts val="400"/>
              </a:spcAft>
            </a:pPr>
            <a:r>
              <a:rPr sz="1100">
                <a:solidFill>
                  <a:srgbClr val="1E293B"/>
                </a:solidFill>
                <a:latin typeface="Arial"/>
              </a:rPr>
              <a:t>• What is the true geographical relocation premium across tech hubs?</a:t>
            </a:r>
          </a:p>
        </p:txBody>
      </p:sp>
      <p:sp>
        <p:nvSpPr>
          <p:cNvPr id="6" name="Rounded Rectangle 5"/>
          <p:cNvSpPr/>
          <p:nvPr/>
        </p:nvSpPr>
        <p:spPr>
          <a:xfrm>
            <a:off x="6217920" y="1645920"/>
            <a:ext cx="5120640" cy="219456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754880" cy="1920240"/>
          </a:xfrm>
          <a:prstGeom prst="rect">
            <a:avLst/>
          </a:prstGeom>
          <a:noFill/>
        </p:spPr>
        <p:txBody>
          <a:bodyPr wrap="square" tIns="0" lIns="0" rIns="0">
            <a:spAutoFit/>
          </a:bodyPr>
          <a:lstStyle/>
          <a:p>
            <a:pPr>
              <a:spcAft>
                <a:spcPts val="600"/>
              </a:spcAft>
            </a:pPr>
            <a:r>
              <a:rPr sz="1300" b="1">
                <a:solidFill>
                  <a:srgbClr val="0F172A"/>
                </a:solidFill>
                <a:latin typeface="Arial"/>
              </a:rPr>
              <a:t>Q2: Junior Data Scientist Skill Multipliers</a:t>
            </a:r>
          </a:p>
          <a:p>
            <a:pPr>
              <a:spcAft>
                <a:spcPts val="400"/>
              </a:spcAft>
            </a:pPr>
            <a:r>
              <a:rPr sz="1100">
                <a:solidFill>
                  <a:srgbClr val="1E293B"/>
                </a:solidFill>
                <a:latin typeface="Arial"/>
              </a:rPr>
              <a:t>• Which technical pillars separate High Hike candidates from stagnant peers?</a:t>
            </a:r>
          </a:p>
          <a:p>
            <a:pPr>
              <a:spcAft>
                <a:spcPts val="400"/>
              </a:spcAft>
            </a:pPr>
            <a:r>
              <a:rPr sz="1100">
                <a:solidFill>
                  <a:srgbClr val="1E293B"/>
                </a:solidFill>
                <a:latin typeface="Arial"/>
              </a:rPr>
              <a:t>• Does distributed Big Data competency actually command higher salary hikes?</a:t>
            </a:r>
          </a:p>
          <a:p>
            <a:pPr>
              <a:spcAft>
                <a:spcPts val="400"/>
              </a:spcAft>
            </a:pPr>
            <a:r>
              <a:rPr sz="1100">
                <a:solidFill>
                  <a:srgbClr val="1E293B"/>
                </a:solidFill>
                <a:latin typeface="Arial"/>
              </a:rPr>
              <a:t>• What are the independent adjusted Odds Ratios for each core skill?</a:t>
            </a:r>
          </a:p>
        </p:txBody>
      </p:sp>
      <p:sp>
        <p:nvSpPr>
          <p:cNvPr id="8" name="Rounded Rectangle 7"/>
          <p:cNvSpPr/>
          <p:nvPr/>
        </p:nvSpPr>
        <p:spPr>
          <a:xfrm>
            <a:off x="731520" y="4114800"/>
            <a:ext cx="5120640" cy="219456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51960"/>
            <a:ext cx="4754880" cy="1920240"/>
          </a:xfrm>
          <a:prstGeom prst="rect">
            <a:avLst/>
          </a:prstGeom>
          <a:noFill/>
        </p:spPr>
        <p:txBody>
          <a:bodyPr wrap="square" tIns="0" lIns="0" rIns="0">
            <a:spAutoFit/>
          </a:bodyPr>
          <a:lstStyle/>
          <a:p>
            <a:pPr>
              <a:spcAft>
                <a:spcPts val="600"/>
              </a:spcAft>
            </a:pPr>
            <a:r>
              <a:rPr sz="1300" b="1">
                <a:solidFill>
                  <a:srgbClr val="0F172A"/>
                </a:solidFill>
                <a:latin typeface="Arial"/>
              </a:rPr>
              <a:t>Q3: Senior Executive Trait Determinants</a:t>
            </a:r>
          </a:p>
          <a:p>
            <a:pPr>
              <a:spcAft>
                <a:spcPts val="400"/>
              </a:spcAft>
            </a:pPr>
            <a:r>
              <a:rPr sz="1100">
                <a:solidFill>
                  <a:srgbClr val="1E293B"/>
                </a:solidFill>
                <a:latin typeface="Arial"/>
              </a:rPr>
              <a:t>• Which Big Five personality traits predict senior career success?</a:t>
            </a:r>
          </a:p>
          <a:p>
            <a:pPr>
              <a:spcAft>
                <a:spcPts val="400"/>
              </a:spcAft>
            </a:pPr>
            <a:r>
              <a:rPr sz="1100">
                <a:solidFill>
                  <a:srgbClr val="1E293B"/>
                </a:solidFill>
                <a:latin typeface="Arial"/>
              </a:rPr>
              <a:t>• Is emotional stability (low Neuroticism) a prerequisite for leadership?</a:t>
            </a:r>
          </a:p>
          <a:p>
            <a:pPr>
              <a:spcAft>
                <a:spcPts val="400"/>
              </a:spcAft>
            </a:pPr>
            <a:r>
              <a:rPr sz="1100">
                <a:solidFill>
                  <a:srgbClr val="1E293B"/>
                </a:solidFill>
                <a:latin typeface="Arial"/>
              </a:rPr>
              <a:t>• How do Conscientiousness and Openness affect promotion odds?</a:t>
            </a:r>
          </a:p>
        </p:txBody>
      </p:sp>
      <p:sp>
        <p:nvSpPr>
          <p:cNvPr id="10" name="Rounded Rectangle 9"/>
          <p:cNvSpPr/>
          <p:nvPr/>
        </p:nvSpPr>
        <p:spPr>
          <a:xfrm>
            <a:off x="6217920" y="4114800"/>
            <a:ext cx="5120640" cy="219456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251960"/>
            <a:ext cx="4754880" cy="1920240"/>
          </a:xfrm>
          <a:prstGeom prst="rect">
            <a:avLst/>
          </a:prstGeom>
          <a:noFill/>
        </p:spPr>
        <p:txBody>
          <a:bodyPr wrap="square" tIns="0" lIns="0" rIns="0">
            <a:spAutoFit/>
          </a:bodyPr>
          <a:lstStyle/>
          <a:p>
            <a:pPr>
              <a:spcAft>
                <a:spcPts val="600"/>
              </a:spcAft>
            </a:pPr>
            <a:r>
              <a:rPr sz="1300" b="1">
                <a:solidFill>
                  <a:srgbClr val="0F172A"/>
                </a:solidFill>
                <a:latin typeface="Arial"/>
              </a:rPr>
              <a:t>Q4: Engineering Translation into Punarshuru</a:t>
            </a:r>
          </a:p>
          <a:p>
            <a:pPr>
              <a:spcAft>
                <a:spcPts val="400"/>
              </a:spcAft>
            </a:pPr>
            <a:r>
              <a:rPr sz="1100">
                <a:solidFill>
                  <a:srgbClr val="1E293B"/>
                </a:solidFill>
                <a:latin typeface="Arial"/>
              </a:rPr>
              <a:t>• How do we embed live econometric models into production web architecture?</a:t>
            </a:r>
          </a:p>
          <a:p>
            <a:pPr>
              <a:spcAft>
                <a:spcPts val="400"/>
              </a:spcAft>
            </a:pPr>
            <a:r>
              <a:rPr sz="1100">
                <a:solidFill>
                  <a:srgbClr val="1E293B"/>
                </a:solidFill>
                <a:latin typeface="Arial"/>
              </a:rPr>
              <a:t>• How do we replace hardcoded static heuristics with verified ML inference?</a:t>
            </a:r>
          </a:p>
          <a:p>
            <a:pPr>
              <a:spcAft>
                <a:spcPts val="400"/>
              </a:spcAft>
            </a:pPr>
            <a:r>
              <a:rPr sz="1100">
                <a:solidFill>
                  <a:srgbClr val="1E293B"/>
                </a:solidFill>
                <a:latin typeface="Arial"/>
              </a:rPr>
              <a:t>• Can we deliver automated, persona-tailored navigation without bias?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End-to-End Analytical Architecture &amp; Reproducibility Pipeline</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201168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1645920" cy="4297680"/>
          </a:xfrm>
          <a:prstGeom prst="rect">
            <a:avLst/>
          </a:prstGeom>
          <a:noFill/>
        </p:spPr>
        <p:txBody>
          <a:bodyPr wrap="square" tIns="0" lIns="0" rIns="0">
            <a:spAutoFit/>
          </a:bodyPr>
          <a:lstStyle/>
          <a:p>
            <a:pPr>
              <a:spcAft>
                <a:spcPts val="600"/>
              </a:spcAft>
            </a:pPr>
            <a:r>
              <a:rPr sz="1300" b="1">
                <a:solidFill>
                  <a:srgbClr val="0F172A"/>
                </a:solidFill>
                <a:latin typeface="Arial"/>
              </a:rPr>
              <a:t>Stage 1: Audit</a:t>
            </a:r>
          </a:p>
          <a:p>
            <a:pPr>
              <a:spcAft>
                <a:spcPts val="400"/>
              </a:spcAft>
            </a:pPr>
            <a:r>
              <a:rPr sz="1100">
                <a:solidFill>
                  <a:srgbClr val="1E293B"/>
                </a:solidFill>
                <a:latin typeface="Arial"/>
              </a:rPr>
              <a:t>• Ingest 4 raw datasets.</a:t>
            </a:r>
          </a:p>
          <a:p>
            <a:pPr>
              <a:spcAft>
                <a:spcPts val="400"/>
              </a:spcAft>
            </a:pPr>
            <a:r>
              <a:rPr sz="1100">
                <a:solidFill>
                  <a:srgbClr val="1E293B"/>
                </a:solidFill>
                <a:latin typeface="Arial"/>
              </a:rPr>
              <a:t>• 1,001 duplicates removed.</a:t>
            </a:r>
          </a:p>
          <a:p>
            <a:pPr>
              <a:spcAft>
                <a:spcPts val="400"/>
              </a:spcAft>
            </a:pPr>
            <a:r>
              <a:rPr sz="1100">
                <a:solidFill>
                  <a:srgbClr val="1E293B"/>
                </a:solidFill>
                <a:latin typeface="Arial"/>
              </a:rPr>
              <a:t>• 157 spam rows pruned.</a:t>
            </a:r>
          </a:p>
          <a:p>
            <a:pPr>
              <a:spcAft>
                <a:spcPts val="400"/>
              </a:spcAft>
            </a:pPr>
            <a:r>
              <a:rPr sz="1100">
                <a:solidFill>
                  <a:srgbClr val="1E293B"/>
                </a:solidFill>
                <a:latin typeface="Arial"/>
              </a:rPr>
              <a:t>• Surrogate primary keys.</a:t>
            </a:r>
          </a:p>
          <a:p>
            <a:pPr>
              <a:spcAft>
                <a:spcPts val="400"/>
              </a:spcAft>
            </a:pPr>
            <a:r>
              <a:rPr sz="1100">
                <a:solidFill>
                  <a:srgbClr val="1E293B"/>
                </a:solidFill>
                <a:latin typeface="Arial"/>
              </a:rPr>
              <a:t>• Regex LPA normalization.</a:t>
            </a:r>
          </a:p>
          <a:p>
            <a:pPr>
              <a:spcAft>
                <a:spcPts val="400"/>
              </a:spcAft>
            </a:pPr>
            <a:r>
              <a:rPr sz="1100">
                <a:solidFill>
                  <a:srgbClr val="1E293B"/>
                </a:solidFill>
                <a:latin typeface="Arial"/>
              </a:rPr>
              <a:t>• JSON audit logging.</a:t>
            </a:r>
          </a:p>
        </p:txBody>
      </p:sp>
      <p:sp>
        <p:nvSpPr>
          <p:cNvPr id="6" name="Rounded Rectangle 5"/>
          <p:cNvSpPr/>
          <p:nvPr/>
        </p:nvSpPr>
        <p:spPr>
          <a:xfrm>
            <a:off x="2926080" y="1645920"/>
            <a:ext cx="201168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0" y="1783080"/>
            <a:ext cx="1645920" cy="4297680"/>
          </a:xfrm>
          <a:prstGeom prst="rect">
            <a:avLst/>
          </a:prstGeom>
          <a:noFill/>
        </p:spPr>
        <p:txBody>
          <a:bodyPr wrap="square" tIns="0" lIns="0" rIns="0">
            <a:spAutoFit/>
          </a:bodyPr>
          <a:lstStyle/>
          <a:p>
            <a:pPr>
              <a:spcAft>
                <a:spcPts val="600"/>
              </a:spcAft>
            </a:pPr>
            <a:r>
              <a:rPr sz="1300" b="1">
                <a:solidFill>
                  <a:srgbClr val="0F172A"/>
                </a:solidFill>
                <a:latin typeface="Arial"/>
              </a:rPr>
              <a:t>Stage 2: Macro</a:t>
            </a:r>
          </a:p>
          <a:p>
            <a:pPr>
              <a:spcAft>
                <a:spcPts val="400"/>
              </a:spcAft>
            </a:pPr>
            <a:r>
              <a:rPr sz="1100">
                <a:solidFill>
                  <a:srgbClr val="1E293B"/>
                </a:solidFill>
                <a:latin typeface="Arial"/>
              </a:rPr>
              <a:t>• N=16,291 clean jobs.</a:t>
            </a:r>
          </a:p>
          <a:p>
            <a:pPr>
              <a:spcAft>
                <a:spcPts val="400"/>
              </a:spcAft>
            </a:pPr>
            <a:r>
              <a:rPr sz="1100">
                <a:solidFill>
                  <a:srgbClr val="1E293B"/>
                </a:solidFill>
                <a:latin typeface="Arial"/>
              </a:rPr>
              <a:t>• One-Way ANOVA tests.</a:t>
            </a:r>
          </a:p>
          <a:p>
            <a:pPr>
              <a:spcAft>
                <a:spcPts val="400"/>
              </a:spcAft>
            </a:pPr>
            <a:r>
              <a:rPr sz="1100">
                <a:solidFill>
                  <a:srgbClr val="1E293B"/>
                </a:solidFill>
                <a:latin typeface="Arial"/>
              </a:rPr>
              <a:t>• Mincerian OLS wage curve.</a:t>
            </a:r>
          </a:p>
          <a:p>
            <a:pPr>
              <a:spcAft>
                <a:spcPts val="400"/>
              </a:spcAft>
            </a:pPr>
            <a:r>
              <a:rPr sz="1100">
                <a:solidFill>
                  <a:srgbClr val="1E293B"/>
                </a:solidFill>
                <a:latin typeface="Arial"/>
              </a:rPr>
              <a:t>• Pareto employer analysis.</a:t>
            </a:r>
          </a:p>
          <a:p>
            <a:pPr>
              <a:spcAft>
                <a:spcPts val="400"/>
              </a:spcAft>
            </a:pPr>
            <a:r>
              <a:rPr sz="1100">
                <a:solidFill>
                  <a:srgbClr val="1E293B"/>
                </a:solidFill>
                <a:latin typeface="Arial"/>
              </a:rPr>
              <a:t>• Tech hub IQR benchmarks.</a:t>
            </a:r>
          </a:p>
          <a:p>
            <a:pPr>
              <a:spcAft>
                <a:spcPts val="400"/>
              </a:spcAft>
            </a:pPr>
            <a:r>
              <a:rPr sz="1100">
                <a:solidFill>
                  <a:srgbClr val="1E293B"/>
                </a:solidFill>
                <a:latin typeface="Arial"/>
              </a:rPr>
              <a:t>• Skill premium matrix.</a:t>
            </a:r>
          </a:p>
        </p:txBody>
      </p:sp>
      <p:sp>
        <p:nvSpPr>
          <p:cNvPr id="8" name="Rounded Rectangle 7"/>
          <p:cNvSpPr/>
          <p:nvPr/>
        </p:nvSpPr>
        <p:spPr>
          <a:xfrm>
            <a:off x="5120640" y="1645920"/>
            <a:ext cx="201168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1783080"/>
            <a:ext cx="1645920" cy="4297680"/>
          </a:xfrm>
          <a:prstGeom prst="rect">
            <a:avLst/>
          </a:prstGeom>
          <a:noFill/>
        </p:spPr>
        <p:txBody>
          <a:bodyPr wrap="square" tIns="0" lIns="0" rIns="0">
            <a:spAutoFit/>
          </a:bodyPr>
          <a:lstStyle/>
          <a:p>
            <a:pPr>
              <a:spcAft>
                <a:spcPts val="600"/>
              </a:spcAft>
            </a:pPr>
            <a:r>
              <a:rPr sz="1300" b="1">
                <a:solidFill>
                  <a:srgbClr val="0F172A"/>
                </a:solidFill>
                <a:latin typeface="Arial"/>
              </a:rPr>
              <a:t>Stage 3: Junior</a:t>
            </a:r>
          </a:p>
          <a:p>
            <a:pPr>
              <a:spcAft>
                <a:spcPts val="400"/>
              </a:spcAft>
            </a:pPr>
            <a:r>
              <a:rPr sz="1100">
                <a:solidFill>
                  <a:srgbClr val="1E293B"/>
                </a:solidFill>
                <a:latin typeface="Arial"/>
              </a:rPr>
              <a:t>• N=139 candidates.</a:t>
            </a:r>
          </a:p>
          <a:p>
            <a:pPr>
              <a:spcAft>
                <a:spcPts val="400"/>
              </a:spcAft>
            </a:pPr>
            <a:r>
              <a:rPr sz="1100">
                <a:solidFill>
                  <a:srgbClr val="1E293B"/>
                </a:solidFill>
                <a:latin typeface="Arial"/>
              </a:rPr>
              <a:t>• Welch's t &amp; Mann-Whitney.</a:t>
            </a:r>
          </a:p>
          <a:p>
            <a:pPr>
              <a:spcAft>
                <a:spcPts val="400"/>
              </a:spcAft>
            </a:pPr>
            <a:r>
              <a:rPr sz="1100">
                <a:solidFill>
                  <a:srgbClr val="1E293B"/>
                </a:solidFill>
                <a:latin typeface="Arial"/>
              </a:rPr>
              <a:t>• Cohen's d effect sizes.</a:t>
            </a:r>
          </a:p>
          <a:p>
            <a:pPr>
              <a:spcAft>
                <a:spcPts val="400"/>
              </a:spcAft>
            </a:pPr>
            <a:r>
              <a:rPr sz="1100">
                <a:solidFill>
                  <a:srgbClr val="1E293B"/>
                </a:solidFill>
                <a:latin typeface="Arial"/>
              </a:rPr>
              <a:t>• Multivariable Logit.</a:t>
            </a:r>
          </a:p>
          <a:p>
            <a:pPr>
              <a:spcAft>
                <a:spcPts val="400"/>
              </a:spcAft>
            </a:pPr>
            <a:r>
              <a:rPr sz="1100">
                <a:solidFill>
                  <a:srgbClr val="1E293B"/>
                </a:solidFill>
                <a:latin typeface="Arial"/>
              </a:rPr>
              <a:t>• Odds Ratios &amp; 95% CIs.</a:t>
            </a:r>
          </a:p>
          <a:p>
            <a:pPr>
              <a:spcAft>
                <a:spcPts val="400"/>
              </a:spcAft>
            </a:pPr>
            <a:r>
              <a:rPr sz="1100">
                <a:solidFill>
                  <a:srgbClr val="1E293B"/>
                </a:solidFill>
                <a:latin typeface="Arial"/>
              </a:rPr>
              <a:t>• Stratified 5-Fold CV.</a:t>
            </a:r>
          </a:p>
        </p:txBody>
      </p:sp>
      <p:sp>
        <p:nvSpPr>
          <p:cNvPr id="10" name="Rounded Rectangle 9"/>
          <p:cNvSpPr/>
          <p:nvPr/>
        </p:nvSpPr>
        <p:spPr>
          <a:xfrm>
            <a:off x="7315200" y="1645920"/>
            <a:ext cx="201168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0" y="1783080"/>
            <a:ext cx="1645920" cy="4297680"/>
          </a:xfrm>
          <a:prstGeom prst="rect">
            <a:avLst/>
          </a:prstGeom>
          <a:noFill/>
        </p:spPr>
        <p:txBody>
          <a:bodyPr wrap="square" tIns="0" lIns="0" rIns="0">
            <a:spAutoFit/>
          </a:bodyPr>
          <a:lstStyle/>
          <a:p>
            <a:pPr>
              <a:spcAft>
                <a:spcPts val="600"/>
              </a:spcAft>
            </a:pPr>
            <a:r>
              <a:rPr sz="1300" b="1">
                <a:solidFill>
                  <a:srgbClr val="0F172A"/>
                </a:solidFill>
                <a:latin typeface="Arial"/>
              </a:rPr>
              <a:t>Stage 4: Senior</a:t>
            </a:r>
          </a:p>
          <a:p>
            <a:pPr>
              <a:spcAft>
                <a:spcPts val="400"/>
              </a:spcAft>
            </a:pPr>
            <a:r>
              <a:rPr sz="1100">
                <a:solidFill>
                  <a:srgbClr val="1E293B"/>
                </a:solidFill>
                <a:latin typeface="Arial"/>
              </a:rPr>
              <a:t>• N=161 senior leaders.</a:t>
            </a:r>
          </a:p>
          <a:p>
            <a:pPr>
              <a:spcAft>
                <a:spcPts val="400"/>
              </a:spcAft>
            </a:pPr>
            <a:r>
              <a:rPr sz="1100">
                <a:solidFill>
                  <a:srgbClr val="1E293B"/>
                </a:solidFill>
                <a:latin typeface="Arial"/>
              </a:rPr>
              <a:t>• Big Five OCEAN profiling.</a:t>
            </a:r>
          </a:p>
          <a:p>
            <a:pPr>
              <a:spcAft>
                <a:spcPts val="400"/>
              </a:spcAft>
            </a:pPr>
            <a:r>
              <a:rPr sz="1100">
                <a:solidFill>
                  <a:srgbClr val="1E293B"/>
                </a:solidFill>
                <a:latin typeface="Arial"/>
              </a:rPr>
              <a:t>• Odds Ratios per 10-pts.</a:t>
            </a:r>
          </a:p>
          <a:p>
            <a:pPr>
              <a:spcAft>
                <a:spcPts val="400"/>
              </a:spcAft>
            </a:pPr>
            <a:r>
              <a:rPr sz="1100">
                <a:solidFill>
                  <a:srgbClr val="1E293B"/>
                </a:solidFill>
                <a:latin typeface="Arial"/>
              </a:rPr>
              <a:t>• Permutation importance.</a:t>
            </a:r>
          </a:p>
          <a:p>
            <a:pPr>
              <a:spcAft>
                <a:spcPts val="400"/>
              </a:spcAft>
            </a:pPr>
            <a:r>
              <a:rPr sz="1100">
                <a:solidFill>
                  <a:srgbClr val="1E293B"/>
                </a:solidFill>
                <a:latin typeface="Arial"/>
              </a:rPr>
              <a:t>• Random Forest &amp; Logit.</a:t>
            </a:r>
          </a:p>
          <a:p>
            <a:pPr>
              <a:spcAft>
                <a:spcPts val="400"/>
              </a:spcAft>
            </a:pPr>
            <a:r>
              <a:rPr sz="1100">
                <a:solidFill>
                  <a:srgbClr val="1E293B"/>
                </a:solidFill>
                <a:latin typeface="Arial"/>
              </a:rPr>
              <a:t>• Joblib model serialization.</a:t>
            </a:r>
          </a:p>
        </p:txBody>
      </p:sp>
      <p:sp>
        <p:nvSpPr>
          <p:cNvPr id="12" name="Rounded Rectangle 11"/>
          <p:cNvSpPr/>
          <p:nvPr/>
        </p:nvSpPr>
        <p:spPr>
          <a:xfrm>
            <a:off x="9509760" y="1645920"/>
            <a:ext cx="201168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0" y="1783080"/>
            <a:ext cx="1645920" cy="4297680"/>
          </a:xfrm>
          <a:prstGeom prst="rect">
            <a:avLst/>
          </a:prstGeom>
          <a:noFill/>
        </p:spPr>
        <p:txBody>
          <a:bodyPr wrap="square" tIns="0" lIns="0" rIns="0">
            <a:spAutoFit/>
          </a:bodyPr>
          <a:lstStyle/>
          <a:p>
            <a:pPr>
              <a:spcAft>
                <a:spcPts val="600"/>
              </a:spcAft>
            </a:pPr>
            <a:r>
              <a:rPr sz="1300" b="1">
                <a:solidFill>
                  <a:srgbClr val="0F172A"/>
                </a:solidFill>
                <a:latin typeface="Arial"/>
              </a:rPr>
              <a:t>Stage 5: Product</a:t>
            </a:r>
          </a:p>
          <a:p>
            <a:pPr>
              <a:spcAft>
                <a:spcPts val="400"/>
              </a:spcAft>
            </a:pPr>
            <a:r>
              <a:rPr sz="1100">
                <a:solidFill>
                  <a:srgbClr val="1E293B"/>
                </a:solidFill>
                <a:latin typeface="Arial"/>
              </a:rPr>
              <a:t>• Punarshuru integration.</a:t>
            </a:r>
          </a:p>
          <a:p>
            <a:pPr>
              <a:spcAft>
                <a:spcPts val="400"/>
              </a:spcAft>
            </a:pPr>
            <a:r>
              <a:rPr sz="1100">
                <a:solidFill>
                  <a:srgbClr val="1E293B"/>
                </a:solidFill>
                <a:latin typeface="Arial"/>
              </a:rPr>
              <a:t>• FastAPI backend models.</a:t>
            </a:r>
          </a:p>
          <a:p>
            <a:pPr>
              <a:spcAft>
                <a:spcPts val="400"/>
              </a:spcAft>
            </a:pPr>
            <a:r>
              <a:rPr sz="1100">
                <a:solidFill>
                  <a:srgbClr val="1E293B"/>
                </a:solidFill>
                <a:latin typeface="Arial"/>
              </a:rPr>
              <a:t>• React / TS dashboards.</a:t>
            </a:r>
          </a:p>
          <a:p>
            <a:pPr>
              <a:spcAft>
                <a:spcPts val="400"/>
              </a:spcAft>
            </a:pPr>
            <a:r>
              <a:rPr sz="1100">
                <a:solidFill>
                  <a:srgbClr val="1E293B"/>
                </a:solidFill>
                <a:latin typeface="Arial"/>
              </a:rPr>
              <a:t>• 20-page Approach Note.</a:t>
            </a:r>
          </a:p>
          <a:p>
            <a:pPr>
              <a:spcAft>
                <a:spcPts val="400"/>
              </a:spcAft>
            </a:pPr>
            <a:r>
              <a:rPr sz="1100">
                <a:solidFill>
                  <a:srgbClr val="1E293B"/>
                </a:solidFill>
                <a:latin typeface="Arial"/>
              </a:rPr>
              <a:t>• 25-slide PPT deck.</a:t>
            </a:r>
          </a:p>
          <a:p>
            <a:pPr>
              <a:spcAft>
                <a:spcPts val="400"/>
              </a:spcAft>
            </a:pPr>
            <a:r>
              <a:rPr sz="1100">
                <a:solidFill>
                  <a:srgbClr val="1E293B"/>
                </a:solidFill>
                <a:latin typeface="Arial"/>
              </a:rPr>
              <a:t>• Global Seed: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Data Forensic Audit: Turning Messy Web Scraping into Verified Data</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Audit Findings &amp; Methodological Justifications</a:t>
            </a:r>
          </a:p>
          <a:p>
            <a:pPr>
              <a:spcAft>
                <a:spcPts val="400"/>
              </a:spcAft>
            </a:pPr>
            <a:r>
              <a:rPr sz="1100">
                <a:solidFill>
                  <a:srgbClr val="1E293B"/>
                </a:solidFill>
                <a:latin typeface="Arial"/>
              </a:rPr>
              <a:t>• DataScience_Jobs.csv (N=1,602):</a:t>
            </a:r>
          </a:p>
          <a:p>
            <a:pPr>
              <a:spcAft>
                <a:spcPts val="400"/>
              </a:spcAft>
            </a:pPr>
            <a:r>
              <a:rPr sz="1100">
                <a:solidFill>
                  <a:srgbClr val="1E293B"/>
                </a:solidFill>
                <a:latin typeface="Arial"/>
              </a:rPr>
              <a:t>•   - 142 duplicate 'reference_no' values discovered.</a:t>
            </a:r>
          </a:p>
          <a:p>
            <a:pPr>
              <a:spcAft>
                <a:spcPts val="400"/>
              </a:spcAft>
            </a:pPr>
            <a:r>
              <a:rPr sz="1100">
                <a:solidFill>
                  <a:srgbClr val="1E293B"/>
                </a:solidFill>
                <a:latin typeface="Arial"/>
              </a:rPr>
              <a:t>•   - Forensic audit: Scraper batch ID collision, NOT duplicate jobs.</a:t>
            </a:r>
          </a:p>
          <a:p>
            <a:pPr>
              <a:spcAft>
                <a:spcPts val="400"/>
              </a:spcAft>
            </a:pPr>
            <a:r>
              <a:rPr sz="1100">
                <a:solidFill>
                  <a:srgbClr val="1E293B"/>
                </a:solidFill>
                <a:latin typeface="Arial"/>
              </a:rPr>
              <a:t>•   - Preserved all 1,602 valid rows with surrogate key 'ds_job_id'.</a:t>
            </a:r>
          </a:p>
          <a:p>
            <a:pPr>
              <a:spcAft>
                <a:spcPts val="400"/>
              </a:spcAft>
            </a:pPr>
            <a:r>
              <a:rPr sz="1100">
                <a:solidFill>
                  <a:srgbClr val="1E293B"/>
                </a:solidFill>
                <a:latin typeface="Arial"/>
              </a:rPr>
              <a:t>•   - 19 records with exp &gt; 10 yrs verified as legitimate Architect roles.</a:t>
            </a:r>
          </a:p>
          <a:p>
            <a:pPr>
              <a:spcAft>
                <a:spcPts val="400"/>
              </a:spcAft>
            </a:pPr>
            <a:r>
              <a:rPr sz="1100">
                <a:solidFill>
                  <a:srgbClr val="1E293B"/>
                </a:solidFill>
                <a:latin typeface="Arial"/>
              </a:rPr>
              <a:t>• </a:t>
            </a:r>
          </a:p>
          <a:p>
            <a:pPr>
              <a:spcAft>
                <a:spcPts val="400"/>
              </a:spcAft>
            </a:pPr>
            <a:r>
              <a:rPr sz="1100">
                <a:solidFill>
                  <a:srgbClr val="1E293B"/>
                </a:solidFill>
                <a:latin typeface="Arial"/>
              </a:rPr>
              <a:t>• Analytics_Jobs.csv (N=15,841):</a:t>
            </a:r>
          </a:p>
          <a:p>
            <a:pPr>
              <a:spcAft>
                <a:spcPts val="400"/>
              </a:spcAft>
            </a:pPr>
            <a:r>
              <a:rPr sz="1100">
                <a:solidFill>
                  <a:srgbClr val="1E293B"/>
                </a:solidFill>
                <a:latin typeface="Arial"/>
              </a:rPr>
              <a:t>•   - 1,001 exact content duplicates systematically dropped.</a:t>
            </a:r>
          </a:p>
          <a:p>
            <a:pPr>
              <a:spcAft>
                <a:spcPts val="400"/>
              </a:spcAft>
            </a:pPr>
            <a:r>
              <a:rPr sz="1100">
                <a:solidFill>
                  <a:srgbClr val="1E293B"/>
                </a:solidFill>
                <a:latin typeface="Arial"/>
              </a:rPr>
              <a:t>•   - 151 data-entry/typing spam postings filtered out.</a:t>
            </a:r>
          </a:p>
          <a:p>
            <a:pPr>
              <a:spcAft>
                <a:spcPts val="400"/>
              </a:spcAft>
            </a:pPr>
            <a:r>
              <a:rPr sz="1100">
                <a:solidFill>
                  <a:srgbClr val="1E293B"/>
                </a:solidFill>
                <a:latin typeface="Arial"/>
              </a:rPr>
              <a:t>•   - Final clean cohort: 14,689 high-quality job postings.</a:t>
            </a:r>
          </a:p>
          <a:p>
            <a:pPr>
              <a:spcAft>
                <a:spcPts val="400"/>
              </a:spcAft>
            </a:pPr>
            <a:r>
              <a:rPr sz="1100">
                <a:solidFill>
                  <a:srgbClr val="1E293B"/>
                </a:solidFill>
                <a:latin typeface="Arial"/>
              </a:rPr>
              <a:t>•   - Normalized text salary bands into ordinal ranks &amp; LPA midpoints.</a:t>
            </a:r>
          </a:p>
        </p:txBody>
      </p:sp>
      <p:sp>
        <p:nvSpPr>
          <p:cNvPr id="6" name="Rounded Rectangle 5"/>
          <p:cNvSpPr/>
          <p:nvPr/>
        </p:nvSpPr>
        <p:spPr>
          <a:xfrm>
            <a:off x="6217920" y="1645920"/>
            <a:ext cx="512064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Micro Assessment Datasets Audit</a:t>
            </a:r>
          </a:p>
          <a:p>
            <a:pPr>
              <a:spcAft>
                <a:spcPts val="400"/>
              </a:spcAft>
            </a:pPr>
            <a:r>
              <a:rPr sz="1100">
                <a:solidFill>
                  <a:srgbClr val="1E293B"/>
                </a:solidFill>
                <a:latin typeface="Arial"/>
              </a:rPr>
              <a:t>• JDS_Skill_Traits.xlsx (N=139):</a:t>
            </a:r>
          </a:p>
          <a:p>
            <a:pPr>
              <a:spcAft>
                <a:spcPts val="400"/>
              </a:spcAft>
            </a:pPr>
            <a:r>
              <a:rPr sz="1100">
                <a:solidFill>
                  <a:srgbClr val="1E293B"/>
                </a:solidFill>
                <a:latin typeface="Arial"/>
              </a:rPr>
              <a:t>•   - 5 technical pillars assessed on 1.0–5.0 scale.</a:t>
            </a:r>
          </a:p>
          <a:p>
            <a:pPr>
              <a:spcAft>
                <a:spcPts val="400"/>
              </a:spcAft>
            </a:pPr>
            <a:r>
              <a:rPr sz="1100">
                <a:solidFill>
                  <a:srgbClr val="1E293B"/>
                </a:solidFill>
                <a:latin typeface="Arial"/>
              </a:rPr>
              <a:t>•   - Resolved 2 duplicate ID collisions via surrogate keys.</a:t>
            </a:r>
          </a:p>
          <a:p>
            <a:pPr>
              <a:spcAft>
                <a:spcPts val="400"/>
              </a:spcAft>
            </a:pPr>
            <a:r>
              <a:rPr sz="1100">
                <a:solidFill>
                  <a:srgbClr val="1E293B"/>
                </a:solidFill>
                <a:latin typeface="Arial"/>
              </a:rPr>
              <a:t>•   - Balanced binary target: 73 High Hike vs. 66 Low Hike.</a:t>
            </a:r>
          </a:p>
          <a:p>
            <a:pPr>
              <a:spcAft>
                <a:spcPts val="400"/>
              </a:spcAft>
            </a:pPr>
            <a:r>
              <a:rPr sz="1100">
                <a:solidFill>
                  <a:srgbClr val="1E293B"/>
                </a:solidFill>
                <a:latin typeface="Arial"/>
              </a:rPr>
              <a:t>•   - Verified zero missing values or range corruptions.</a:t>
            </a:r>
          </a:p>
          <a:p>
            <a:pPr>
              <a:spcAft>
                <a:spcPts val="400"/>
              </a:spcAft>
            </a:pPr>
            <a:r>
              <a:rPr sz="1100">
                <a:solidFill>
                  <a:srgbClr val="1E293B"/>
                </a:solidFill>
                <a:latin typeface="Arial"/>
              </a:rPr>
              <a:t>• </a:t>
            </a:r>
          </a:p>
          <a:p>
            <a:pPr>
              <a:spcAft>
                <a:spcPts val="400"/>
              </a:spcAft>
            </a:pPr>
            <a:r>
              <a:rPr sz="1100">
                <a:solidFill>
                  <a:srgbClr val="1E293B"/>
                </a:solidFill>
                <a:latin typeface="Arial"/>
              </a:rPr>
              <a:t>• SDS_Personality_Traits.xlsx (N=161):</a:t>
            </a:r>
          </a:p>
          <a:p>
            <a:pPr>
              <a:spcAft>
                <a:spcPts val="400"/>
              </a:spcAft>
            </a:pPr>
            <a:r>
              <a:rPr sz="1100">
                <a:solidFill>
                  <a:srgbClr val="1E293B"/>
                </a:solidFill>
                <a:latin typeface="Arial"/>
              </a:rPr>
              <a:t>•   - Big Five OCEAN assessed on 0.0–100.0 scale.</a:t>
            </a:r>
          </a:p>
          <a:p>
            <a:pPr>
              <a:spcAft>
                <a:spcPts val="400"/>
              </a:spcAft>
            </a:pPr>
            <a:r>
              <a:rPr sz="1100">
                <a:solidFill>
                  <a:srgbClr val="1E293B"/>
                </a:solidFill>
                <a:latin typeface="Arial"/>
              </a:rPr>
              <a:t>•   - Cleaned stray whitespace in column names (' extraversion').</a:t>
            </a:r>
          </a:p>
          <a:p>
            <a:pPr>
              <a:spcAft>
                <a:spcPts val="400"/>
              </a:spcAft>
            </a:pPr>
            <a:r>
              <a:rPr sz="1100">
                <a:solidFill>
                  <a:srgbClr val="1E293B"/>
                </a:solidFill>
                <a:latin typeface="Arial"/>
              </a:rPr>
              <a:t>•   - Resolved 9 ID collisions with unique psychometric observations.</a:t>
            </a:r>
          </a:p>
          <a:p>
            <a:pPr>
              <a:spcAft>
                <a:spcPts val="400"/>
              </a:spcAft>
            </a:pPr>
            <a:r>
              <a:rPr sz="1100">
                <a:solidFill>
                  <a:srgbClr val="1E293B"/>
                </a:solidFill>
                <a:latin typeface="Arial"/>
              </a:rPr>
              <a:t>•   - Balanced binary target: 85 High Success vs. 76 Low Success.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Macro Role Compensation Hierarchy: Where Does the Capital Flow?</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_macro_salary_by_role.png"/>
          <p:cNvPicPr>
            <a:picLocks noChangeAspect="1"/>
          </p:cNvPicPr>
          <p:nvPr/>
        </p:nvPicPr>
        <p:blipFill>
          <a:blip r:embed="rId2"/>
          <a:stretch>
            <a:fillRect/>
          </a:stretch>
        </p:blipFill>
        <p:spPr>
          <a:xfrm>
            <a:off x="731520" y="1645920"/>
            <a:ext cx="6400800" cy="4572000"/>
          </a:xfrm>
          <a:prstGeom prst="rect">
            <a:avLst/>
          </a:prstGeom>
        </p:spPr>
      </p:pic>
      <p:sp>
        <p:nvSpPr>
          <p:cNvPr id="5" name="Rounded Rectangle 4"/>
          <p:cNvSpPr/>
          <p:nvPr/>
        </p:nvSpPr>
        <p:spPr>
          <a:xfrm>
            <a:off x="7406640" y="1645920"/>
            <a:ext cx="402336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783080"/>
            <a:ext cx="3657600" cy="4297680"/>
          </a:xfrm>
          <a:prstGeom prst="rect">
            <a:avLst/>
          </a:prstGeom>
          <a:noFill/>
        </p:spPr>
        <p:txBody>
          <a:bodyPr wrap="square" tIns="0" lIns="0" rIns="0">
            <a:spAutoFit/>
          </a:bodyPr>
          <a:lstStyle/>
          <a:p>
            <a:pPr>
              <a:spcAft>
                <a:spcPts val="600"/>
              </a:spcAft>
            </a:pPr>
            <a:r>
              <a:rPr sz="1300" b="1">
                <a:solidFill>
                  <a:srgbClr val="0F172A"/>
                </a:solidFill>
                <a:latin typeface="Arial"/>
              </a:rPr>
              <a:t>Econometric Findings (N=1,602)</a:t>
            </a:r>
          </a:p>
          <a:p>
            <a:pPr>
              <a:spcAft>
                <a:spcPts val="400"/>
              </a:spcAft>
            </a:pPr>
            <a:r>
              <a:rPr sz="1100">
                <a:solidFill>
                  <a:srgbClr val="1E293B"/>
                </a:solidFill>
                <a:latin typeface="Arial"/>
              </a:rPr>
              <a:t>• Data Architect: Mean ₹24.31L, Median ₹24.0L (IQR ₹6.0L).</a:t>
            </a:r>
          </a:p>
          <a:p>
            <a:pPr>
              <a:spcAft>
                <a:spcPts val="400"/>
              </a:spcAft>
            </a:pPr>
            <a:r>
              <a:rPr sz="1100">
                <a:solidFill>
                  <a:srgbClr val="1E293B"/>
                </a:solidFill>
                <a:latin typeface="Arial"/>
              </a:rPr>
              <a:t>• Lead Data Scientist: Mean ₹19.85L, Median ₹20.0L.</a:t>
            </a:r>
          </a:p>
          <a:p>
            <a:pPr>
              <a:spcAft>
                <a:spcPts val="400"/>
              </a:spcAft>
            </a:pPr>
            <a:r>
              <a:rPr sz="1100">
                <a:solidFill>
                  <a:srgbClr val="1E293B"/>
                </a:solidFill>
                <a:latin typeface="Arial"/>
              </a:rPr>
              <a:t>• Data Science Specialist: Mean ₹17.52L, Median ₹17.0L.</a:t>
            </a:r>
          </a:p>
          <a:p>
            <a:pPr>
              <a:spcAft>
                <a:spcPts val="400"/>
              </a:spcAft>
            </a:pPr>
            <a:r>
              <a:rPr sz="1100">
                <a:solidFill>
                  <a:srgbClr val="1E293B"/>
                </a:solidFill>
                <a:latin typeface="Arial"/>
              </a:rPr>
              <a:t>• Associate / Entry: Mean ₹6.24L, Median ₹6.0L.</a:t>
            </a:r>
          </a:p>
          <a:p>
            <a:pPr>
              <a:spcAft>
                <a:spcPts val="400"/>
              </a:spcAft>
            </a:pPr>
            <a:r>
              <a:rPr sz="1100">
                <a:solidFill>
                  <a:srgbClr val="1E293B"/>
                </a:solidFill>
                <a:latin typeface="Arial"/>
              </a:rPr>
              <a:t>• </a:t>
            </a:r>
          </a:p>
          <a:p>
            <a:pPr>
              <a:spcAft>
                <a:spcPts val="400"/>
              </a:spcAft>
            </a:pPr>
            <a:r>
              <a:rPr sz="1100">
                <a:solidFill>
                  <a:srgbClr val="1E293B"/>
                </a:solidFill>
                <a:latin typeface="Arial"/>
              </a:rPr>
              <a:t>• ANOVA Significance:</a:t>
            </a:r>
          </a:p>
          <a:p>
            <a:pPr>
              <a:spcAft>
                <a:spcPts val="400"/>
              </a:spcAft>
            </a:pPr>
            <a:r>
              <a:rPr sz="1100">
                <a:solidFill>
                  <a:srgbClr val="1E293B"/>
                </a:solidFill>
                <a:latin typeface="Arial"/>
              </a:rPr>
              <a:t>•   - F-Statistic: 154.48</a:t>
            </a:r>
          </a:p>
          <a:p>
            <a:pPr>
              <a:spcAft>
                <a:spcPts val="400"/>
              </a:spcAft>
            </a:pPr>
            <a:r>
              <a:rPr sz="1100">
                <a:solidFill>
                  <a:srgbClr val="1E293B"/>
                </a:solidFill>
                <a:latin typeface="Arial"/>
              </a:rPr>
              <a:t>•   - p-Value: 8.67 × 10^-210</a:t>
            </a:r>
          </a:p>
          <a:p>
            <a:pPr>
              <a:spcAft>
                <a:spcPts val="400"/>
              </a:spcAft>
            </a:pPr>
            <a:r>
              <a:rPr sz="1100">
                <a:solidFill>
                  <a:srgbClr val="1E293B"/>
                </a:solidFill>
                <a:latin typeface="Arial"/>
              </a:rPr>
              <a:t>•   - Role explains 41.2% of total wage variance.</a:t>
            </a:r>
          </a:p>
          <a:p>
            <a:pPr>
              <a:spcAft>
                <a:spcPts val="400"/>
              </a:spcAft>
            </a:pPr>
            <a:r>
              <a:rPr sz="1100">
                <a:solidFill>
                  <a:srgbClr val="1E293B"/>
                </a:solidFill>
                <a:latin typeface="Arial"/>
              </a:rPr>
              <a:t>• </a:t>
            </a:r>
          </a:p>
          <a:p>
            <a:pPr>
              <a:spcAft>
                <a:spcPts val="400"/>
              </a:spcAft>
            </a:pPr>
            <a:r>
              <a:rPr sz="1100">
                <a:solidFill>
                  <a:srgbClr val="1E293B"/>
                </a:solidFill>
                <a:latin typeface="Arial"/>
              </a:rPr>
              <a:t>• Insight: Transitioning from Associate to Architect yields a 4.0x salary multiple.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Geographical Tech Hubs: Quantifying the Relocation Premium</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2_city_salary_iqr.png"/>
          <p:cNvPicPr>
            <a:picLocks noChangeAspect="1"/>
          </p:cNvPicPr>
          <p:nvPr/>
        </p:nvPicPr>
        <p:blipFill>
          <a:blip r:embed="rId2"/>
          <a:stretch>
            <a:fillRect/>
          </a:stretch>
        </p:blipFill>
        <p:spPr>
          <a:xfrm>
            <a:off x="731520" y="1645920"/>
            <a:ext cx="6400800" cy="4572000"/>
          </a:xfrm>
          <a:prstGeom prst="rect">
            <a:avLst/>
          </a:prstGeom>
        </p:spPr>
      </p:pic>
      <p:sp>
        <p:nvSpPr>
          <p:cNvPr id="5" name="Rounded Rectangle 4"/>
          <p:cNvSpPr/>
          <p:nvPr/>
        </p:nvSpPr>
        <p:spPr>
          <a:xfrm>
            <a:off x="7406640" y="1645920"/>
            <a:ext cx="402336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783080"/>
            <a:ext cx="3657600" cy="4297680"/>
          </a:xfrm>
          <a:prstGeom prst="rect">
            <a:avLst/>
          </a:prstGeom>
          <a:noFill/>
        </p:spPr>
        <p:txBody>
          <a:bodyPr wrap="square" tIns="0" lIns="0" rIns="0">
            <a:spAutoFit/>
          </a:bodyPr>
          <a:lstStyle/>
          <a:p>
            <a:pPr>
              <a:spcAft>
                <a:spcPts val="600"/>
              </a:spcAft>
            </a:pPr>
            <a:r>
              <a:rPr sz="1300" b="1">
                <a:solidFill>
                  <a:srgbClr val="0F172A"/>
                </a:solidFill>
                <a:latin typeface="Arial"/>
              </a:rPr>
              <a:t>Tech Hub Salary Benchmarks</a:t>
            </a:r>
          </a:p>
          <a:p>
            <a:pPr>
              <a:spcAft>
                <a:spcPts val="400"/>
              </a:spcAft>
            </a:pPr>
            <a:r>
              <a:rPr sz="1100">
                <a:solidFill>
                  <a:srgbClr val="1E293B"/>
                </a:solidFill>
                <a:latin typeface="Arial"/>
              </a:rPr>
              <a:t>• Bangalore: Mean ₹14.82L, Median ₹14.0L (IQR ₹9.0L).</a:t>
            </a:r>
          </a:p>
          <a:p>
            <a:pPr>
              <a:spcAft>
                <a:spcPts val="400"/>
              </a:spcAft>
            </a:pPr>
            <a:r>
              <a:rPr sz="1100">
                <a:solidFill>
                  <a:srgbClr val="1E293B"/>
                </a:solidFill>
                <a:latin typeface="Arial"/>
              </a:rPr>
              <a:t>• Hyderabad: Mean ₹13.91L, Median ₹13.0L.</a:t>
            </a:r>
          </a:p>
          <a:p>
            <a:pPr>
              <a:spcAft>
                <a:spcPts val="400"/>
              </a:spcAft>
            </a:pPr>
            <a:r>
              <a:rPr sz="1100">
                <a:solidFill>
                  <a:srgbClr val="1E293B"/>
                </a:solidFill>
                <a:latin typeface="Arial"/>
              </a:rPr>
              <a:t>• Mumbai: Mean ₹13.45L, Median ₹12.5L.</a:t>
            </a:r>
          </a:p>
          <a:p>
            <a:pPr>
              <a:spcAft>
                <a:spcPts val="400"/>
              </a:spcAft>
            </a:pPr>
            <a:r>
              <a:rPr sz="1100">
                <a:solidFill>
                  <a:srgbClr val="1E293B"/>
                </a:solidFill>
                <a:latin typeface="Arial"/>
              </a:rPr>
              <a:t>• Delhi NCR / Gurgaon: Mean ₹12.98L, Median ₹12.0L.</a:t>
            </a:r>
          </a:p>
          <a:p>
            <a:pPr>
              <a:spcAft>
                <a:spcPts val="400"/>
              </a:spcAft>
            </a:pPr>
            <a:r>
              <a:rPr sz="1100">
                <a:solidFill>
                  <a:srgbClr val="1E293B"/>
                </a:solidFill>
                <a:latin typeface="Arial"/>
              </a:rPr>
              <a:t>• Tier-2 / Emerging Hubs: Mean ₹8.42L, Median ₹8.0L.</a:t>
            </a:r>
          </a:p>
          <a:p>
            <a:pPr>
              <a:spcAft>
                <a:spcPts val="400"/>
              </a:spcAft>
            </a:pPr>
            <a:r>
              <a:rPr sz="1100">
                <a:solidFill>
                  <a:srgbClr val="1E293B"/>
                </a:solidFill>
                <a:latin typeface="Arial"/>
              </a:rPr>
              <a:t>• </a:t>
            </a:r>
          </a:p>
          <a:p>
            <a:pPr>
              <a:spcAft>
                <a:spcPts val="400"/>
              </a:spcAft>
            </a:pPr>
            <a:r>
              <a:rPr sz="1100">
                <a:solidFill>
                  <a:srgbClr val="1E293B"/>
                </a:solidFill>
                <a:latin typeface="Arial"/>
              </a:rPr>
              <a:t>• The Relocation Premium:</a:t>
            </a:r>
          </a:p>
          <a:p>
            <a:pPr>
              <a:spcAft>
                <a:spcPts val="400"/>
              </a:spcAft>
            </a:pPr>
            <a:r>
              <a:rPr sz="1100">
                <a:solidFill>
                  <a:srgbClr val="1E293B"/>
                </a:solidFill>
                <a:latin typeface="Arial"/>
              </a:rPr>
              <a:t>•   - Relocating from Tier-2 to Bangalore yields an immediate +43.2% wage premium for identical job titles.</a:t>
            </a:r>
          </a:p>
          <a:p>
            <a:pPr>
              <a:spcAft>
                <a:spcPts val="400"/>
              </a:spcAft>
            </a:pPr>
            <a:r>
              <a:rPr sz="1100">
                <a:solidFill>
                  <a:srgbClr val="1E293B"/>
                </a:solidFill>
                <a:latin typeface="Arial"/>
              </a:rPr>
              <a:t>•   - Restarters targeting remote roles must benchmark against Tier-1 pay bands.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Returns to Experience: The Empirical Mincerian Wage Equation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3_experience_vs_salary_regression.png"/>
          <p:cNvPicPr>
            <a:picLocks noChangeAspect="1"/>
          </p:cNvPicPr>
          <p:nvPr/>
        </p:nvPicPr>
        <p:blipFill>
          <a:blip r:embed="rId2"/>
          <a:stretch>
            <a:fillRect/>
          </a:stretch>
        </p:blipFill>
        <p:spPr>
          <a:xfrm>
            <a:off x="731520" y="1645920"/>
            <a:ext cx="6400800" cy="4572000"/>
          </a:xfrm>
          <a:prstGeom prst="rect">
            <a:avLst/>
          </a:prstGeom>
        </p:spPr>
      </p:pic>
      <p:sp>
        <p:nvSpPr>
          <p:cNvPr id="5" name="Rounded Rectangle 4"/>
          <p:cNvSpPr/>
          <p:nvPr/>
        </p:nvSpPr>
        <p:spPr>
          <a:xfrm>
            <a:off x="7406640" y="1645920"/>
            <a:ext cx="402336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783080"/>
            <a:ext cx="3657600" cy="4297680"/>
          </a:xfrm>
          <a:prstGeom prst="rect">
            <a:avLst/>
          </a:prstGeom>
          <a:noFill/>
        </p:spPr>
        <p:txBody>
          <a:bodyPr wrap="square" tIns="0" lIns="0" rIns="0">
            <a:spAutoFit/>
          </a:bodyPr>
          <a:lstStyle/>
          <a:p>
            <a:pPr>
              <a:spcAft>
                <a:spcPts val="600"/>
              </a:spcAft>
            </a:pPr>
            <a:r>
              <a:rPr sz="1300" b="1">
                <a:solidFill>
                  <a:srgbClr val="0F172A"/>
                </a:solidFill>
                <a:latin typeface="Arial"/>
              </a:rPr>
              <a:t>OLS Econometric Model</a:t>
            </a:r>
          </a:p>
          <a:p>
            <a:pPr>
              <a:spcAft>
                <a:spcPts val="400"/>
              </a:spcAft>
            </a:pPr>
            <a:r>
              <a:rPr sz="1100">
                <a:solidFill>
                  <a:srgbClr val="1E293B"/>
                </a:solidFill>
                <a:latin typeface="Arial"/>
              </a:rPr>
              <a:t>• Model Specification: Salary = β0 + β1 × Exp</a:t>
            </a:r>
          </a:p>
          <a:p>
            <a:pPr>
              <a:spcAft>
                <a:spcPts val="400"/>
              </a:spcAft>
            </a:pPr>
            <a:r>
              <a:rPr sz="1100">
                <a:solidFill>
                  <a:srgbClr val="1E293B"/>
                </a:solidFill>
                <a:latin typeface="Arial"/>
              </a:rPr>
              <a:t>• </a:t>
            </a:r>
          </a:p>
          <a:p>
            <a:pPr>
              <a:spcAft>
                <a:spcPts val="400"/>
              </a:spcAft>
            </a:pPr>
            <a:r>
              <a:rPr sz="1100">
                <a:solidFill>
                  <a:srgbClr val="1E293B"/>
                </a:solidFill>
                <a:latin typeface="Arial"/>
              </a:rPr>
              <a:t>• Empirical Equation:</a:t>
            </a:r>
          </a:p>
          <a:p>
            <a:pPr>
              <a:spcAft>
                <a:spcPts val="400"/>
              </a:spcAft>
            </a:pPr>
            <a:r>
              <a:rPr sz="1100">
                <a:solidFill>
                  <a:srgbClr val="1E293B"/>
                </a:solidFill>
                <a:latin typeface="Arial"/>
              </a:rPr>
              <a:t>• Salary (LPA) = 1.724 + 1.638 × Exp_Years</a:t>
            </a:r>
          </a:p>
          <a:p>
            <a:pPr>
              <a:spcAft>
                <a:spcPts val="400"/>
              </a:spcAft>
            </a:pPr>
            <a:r>
              <a:rPr sz="1100">
                <a:solidFill>
                  <a:srgbClr val="1E293B"/>
                </a:solidFill>
                <a:latin typeface="Arial"/>
              </a:rPr>
              <a:t>• </a:t>
            </a:r>
          </a:p>
          <a:p>
            <a:pPr>
              <a:spcAft>
                <a:spcPts val="400"/>
              </a:spcAft>
            </a:pPr>
            <a:r>
              <a:rPr sz="1100">
                <a:solidFill>
                  <a:srgbClr val="1E293B"/>
                </a:solidFill>
                <a:latin typeface="Arial"/>
              </a:rPr>
              <a:t>• Statistical Metrics:</a:t>
            </a:r>
          </a:p>
          <a:p>
            <a:pPr>
              <a:spcAft>
                <a:spcPts val="400"/>
              </a:spcAft>
            </a:pPr>
            <a:r>
              <a:rPr sz="1100">
                <a:solidFill>
                  <a:srgbClr val="1E293B"/>
                </a:solidFill>
                <a:latin typeface="Arial"/>
              </a:rPr>
              <a:t>•   - R² = 0.434 (Strong explanatory power)</a:t>
            </a:r>
          </a:p>
          <a:p>
            <a:pPr>
              <a:spcAft>
                <a:spcPts val="400"/>
              </a:spcAft>
            </a:pPr>
            <a:r>
              <a:rPr sz="1100">
                <a:solidFill>
                  <a:srgbClr val="1E293B"/>
                </a:solidFill>
                <a:latin typeface="Arial"/>
              </a:rPr>
              <a:t>•   - F = 1,228.4 (p &lt; 1.0 × 10^-200)</a:t>
            </a:r>
          </a:p>
          <a:p>
            <a:pPr>
              <a:spcAft>
                <a:spcPts val="400"/>
              </a:spcAft>
            </a:pPr>
            <a:r>
              <a:rPr sz="1100">
                <a:solidFill>
                  <a:srgbClr val="1E293B"/>
                </a:solidFill>
                <a:latin typeface="Arial"/>
              </a:rPr>
              <a:t>• </a:t>
            </a:r>
          </a:p>
          <a:p>
            <a:pPr>
              <a:spcAft>
                <a:spcPts val="400"/>
              </a:spcAft>
            </a:pPr>
            <a:r>
              <a:rPr sz="1100">
                <a:solidFill>
                  <a:srgbClr val="1E293B"/>
                </a:solidFill>
                <a:latin typeface="Arial"/>
              </a:rPr>
              <a:t>• Key Takeaways:</a:t>
            </a:r>
          </a:p>
          <a:p>
            <a:pPr>
              <a:spcAft>
                <a:spcPts val="400"/>
              </a:spcAft>
            </a:pPr>
            <a:r>
              <a:rPr sz="1100">
                <a:solidFill>
                  <a:srgbClr val="1E293B"/>
                </a:solidFill>
                <a:latin typeface="Arial"/>
              </a:rPr>
              <a:t>•   - Base starting wage: ₹1.72 LPA.</a:t>
            </a:r>
          </a:p>
          <a:p>
            <a:pPr>
              <a:spcAft>
                <a:spcPts val="400"/>
              </a:spcAft>
            </a:pPr>
            <a:r>
              <a:rPr sz="1100">
                <a:solidFill>
                  <a:srgbClr val="1E293B"/>
                </a:solidFill>
                <a:latin typeface="Arial"/>
              </a:rPr>
              <a:t>•   - Return per experience year: +₹1.64 LPA.</a:t>
            </a:r>
          </a:p>
          <a:p>
            <a:pPr>
              <a:spcAft>
                <a:spcPts val="400"/>
              </a:spcAft>
            </a:pPr>
            <a:r>
              <a:rPr sz="1100">
                <a:solidFill>
                  <a:srgbClr val="1E293B"/>
                </a:solidFill>
                <a:latin typeface="Arial"/>
              </a:rPr>
              <a:t>•   - 5-year milestone: ₹9.91 LPA.</a:t>
            </a:r>
          </a:p>
          <a:p>
            <a:pPr>
              <a:spcAft>
                <a:spcPts val="400"/>
              </a:spcAft>
            </a:pPr>
            <a:r>
              <a:rPr sz="1100">
                <a:solidFill>
                  <a:srgbClr val="1E293B"/>
                </a:solidFill>
                <a:latin typeface="Arial"/>
              </a:rPr>
              <a:t>•   - 10-year milestone: ₹18.10 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Employer Hiring Concentration: The 80/20 Reality of Open Vacancies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5_employer_concentration_pareto.png"/>
          <p:cNvPicPr>
            <a:picLocks noChangeAspect="1"/>
          </p:cNvPicPr>
          <p:nvPr/>
        </p:nvPicPr>
        <p:blipFill>
          <a:blip r:embed="rId2"/>
          <a:stretch>
            <a:fillRect/>
          </a:stretch>
        </p:blipFill>
        <p:spPr>
          <a:xfrm>
            <a:off x="731520" y="1645920"/>
            <a:ext cx="6400800" cy="4572000"/>
          </a:xfrm>
          <a:prstGeom prst="rect">
            <a:avLst/>
          </a:prstGeom>
        </p:spPr>
      </p:pic>
      <p:sp>
        <p:nvSpPr>
          <p:cNvPr id="5" name="Rounded Rectangle 4"/>
          <p:cNvSpPr/>
          <p:nvPr/>
        </p:nvSpPr>
        <p:spPr>
          <a:xfrm>
            <a:off x="7406640" y="1645920"/>
            <a:ext cx="402336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783080"/>
            <a:ext cx="3657600" cy="4297680"/>
          </a:xfrm>
          <a:prstGeom prst="rect">
            <a:avLst/>
          </a:prstGeom>
          <a:noFill/>
        </p:spPr>
        <p:txBody>
          <a:bodyPr wrap="square" tIns="0" lIns="0" rIns="0">
            <a:spAutoFit/>
          </a:bodyPr>
          <a:lstStyle/>
          <a:p>
            <a:pPr>
              <a:spcAft>
                <a:spcPts val="600"/>
              </a:spcAft>
            </a:pPr>
            <a:r>
              <a:rPr sz="1300" b="1">
                <a:solidFill>
                  <a:srgbClr val="0F172A"/>
                </a:solidFill>
                <a:latin typeface="Arial"/>
              </a:rPr>
              <a:t>Pareto Distribution Dynamics</a:t>
            </a:r>
          </a:p>
          <a:p>
            <a:pPr>
              <a:spcAft>
                <a:spcPts val="400"/>
              </a:spcAft>
            </a:pPr>
            <a:r>
              <a:rPr sz="1100">
                <a:solidFill>
                  <a:srgbClr val="1E293B"/>
                </a:solidFill>
                <a:latin typeface="Arial"/>
              </a:rPr>
              <a:t>• Top 15 Employers control &gt;52% of all open market vacancies.</a:t>
            </a:r>
          </a:p>
          <a:p>
            <a:pPr>
              <a:spcAft>
                <a:spcPts val="400"/>
              </a:spcAft>
            </a:pPr>
            <a:r>
              <a:rPr sz="1100">
                <a:solidFill>
                  <a:srgbClr val="1E293B"/>
                </a:solidFill>
                <a:latin typeface="Arial"/>
              </a:rPr>
              <a:t>• TCS leads overall vacancy volume with 4,200 open positions.</a:t>
            </a:r>
          </a:p>
          <a:p>
            <a:pPr>
              <a:spcAft>
                <a:spcPts val="400"/>
              </a:spcAft>
            </a:pPr>
            <a:r>
              <a:rPr sz="1100">
                <a:solidFill>
                  <a:srgbClr val="1E293B"/>
                </a:solidFill>
                <a:latin typeface="Arial"/>
              </a:rPr>
              <a:t>• </a:t>
            </a:r>
          </a:p>
          <a:p>
            <a:pPr>
              <a:spcAft>
                <a:spcPts val="400"/>
              </a:spcAft>
            </a:pPr>
            <a:r>
              <a:rPr sz="1100">
                <a:solidFill>
                  <a:srgbClr val="1E293B"/>
                </a:solidFill>
                <a:latin typeface="Arial"/>
              </a:rPr>
              <a:t>• The Volume vs. Value Paradox:</a:t>
            </a:r>
          </a:p>
          <a:p>
            <a:pPr>
              <a:spcAft>
                <a:spcPts val="400"/>
              </a:spcAft>
            </a:pPr>
            <a:r>
              <a:rPr sz="1100">
                <a:solidFill>
                  <a:srgbClr val="1E293B"/>
                </a:solidFill>
                <a:latin typeface="Arial"/>
              </a:rPr>
              <a:t>•   - IT Services (TCS, Infosys, Wipro, Cognizant) dominate entry-level hiring volume but offer compressed medians (₹5–8L).</a:t>
            </a:r>
          </a:p>
          <a:p>
            <a:pPr>
              <a:spcAft>
                <a:spcPts val="400"/>
              </a:spcAft>
            </a:pPr>
            <a:r>
              <a:rPr sz="1100">
                <a:solidFill>
                  <a:srgbClr val="1E293B"/>
                </a:solidFill>
                <a:latin typeface="Arial"/>
              </a:rPr>
              <a:t>•   - GCCs and Enterprise Tech (Deloitte, Shell, Barclays) hire in lower volume but offer 2.5x higher median compensation (₹18–26L).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Skill Demand vs. Salary Premium: Separating Table Stakes from Alpha</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4_top_skills_demand_salary_bubble.png"/>
          <p:cNvPicPr>
            <a:picLocks noChangeAspect="1"/>
          </p:cNvPicPr>
          <p:nvPr/>
        </p:nvPicPr>
        <p:blipFill>
          <a:blip r:embed="rId2"/>
          <a:stretch>
            <a:fillRect/>
          </a:stretch>
        </p:blipFill>
        <p:spPr>
          <a:xfrm>
            <a:off x="731520" y="1645920"/>
            <a:ext cx="6400800" cy="4572000"/>
          </a:xfrm>
          <a:prstGeom prst="rect">
            <a:avLst/>
          </a:prstGeom>
        </p:spPr>
      </p:pic>
      <p:sp>
        <p:nvSpPr>
          <p:cNvPr id="5" name="Rounded Rectangle 4"/>
          <p:cNvSpPr/>
          <p:nvPr/>
        </p:nvSpPr>
        <p:spPr>
          <a:xfrm>
            <a:off x="7406640" y="1645920"/>
            <a:ext cx="402336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783080"/>
            <a:ext cx="3657600" cy="4297680"/>
          </a:xfrm>
          <a:prstGeom prst="rect">
            <a:avLst/>
          </a:prstGeom>
          <a:noFill/>
        </p:spPr>
        <p:txBody>
          <a:bodyPr wrap="square" tIns="0" lIns="0" rIns="0">
            <a:spAutoFit/>
          </a:bodyPr>
          <a:lstStyle/>
          <a:p>
            <a:pPr>
              <a:spcAft>
                <a:spcPts val="600"/>
              </a:spcAft>
            </a:pPr>
            <a:r>
              <a:rPr sz="1300" b="1">
                <a:solidFill>
                  <a:srgbClr val="0F172A"/>
                </a:solidFill>
                <a:latin typeface="Arial"/>
              </a:rPr>
              <a:t>Skill Premium Quadrants</a:t>
            </a:r>
          </a:p>
          <a:p>
            <a:pPr>
              <a:spcAft>
                <a:spcPts val="400"/>
              </a:spcAft>
            </a:pPr>
            <a:r>
              <a:rPr sz="1100">
                <a:solidFill>
                  <a:srgbClr val="1E293B"/>
                </a:solidFill>
                <a:latin typeface="Arial"/>
              </a:rPr>
              <a:t>• Table Stakes (High Demand, Moderate Pay):</a:t>
            </a:r>
          </a:p>
          <a:p>
            <a:pPr>
              <a:spcAft>
                <a:spcPts val="400"/>
              </a:spcAft>
            </a:pPr>
            <a:r>
              <a:rPr sz="1100">
                <a:solidFill>
                  <a:srgbClr val="1E293B"/>
                </a:solidFill>
                <a:latin typeface="Arial"/>
              </a:rPr>
              <a:t>•   - Python (78% frequency, ₹12.5L median)</a:t>
            </a:r>
          </a:p>
          <a:p>
            <a:pPr>
              <a:spcAft>
                <a:spcPts val="400"/>
              </a:spcAft>
            </a:pPr>
            <a:r>
              <a:rPr sz="1100">
                <a:solidFill>
                  <a:srgbClr val="1E293B"/>
                </a:solidFill>
                <a:latin typeface="Arial"/>
              </a:rPr>
              <a:t>•   - SQL (64% frequency, ₹11.0L median)</a:t>
            </a:r>
          </a:p>
          <a:p>
            <a:pPr>
              <a:spcAft>
                <a:spcPts val="400"/>
              </a:spcAft>
            </a:pPr>
            <a:r>
              <a:rPr sz="1100">
                <a:solidFill>
                  <a:srgbClr val="1E293B"/>
                </a:solidFill>
                <a:latin typeface="Arial"/>
              </a:rPr>
              <a:t>•   - Machine Learning (52% freq, ₹14.0L median)</a:t>
            </a:r>
          </a:p>
          <a:p>
            <a:pPr>
              <a:spcAft>
                <a:spcPts val="400"/>
              </a:spcAft>
            </a:pPr>
            <a:r>
              <a:rPr sz="1100">
                <a:solidFill>
                  <a:srgbClr val="1E293B"/>
                </a:solidFill>
                <a:latin typeface="Arial"/>
              </a:rPr>
              <a:t>• </a:t>
            </a:r>
          </a:p>
          <a:p>
            <a:pPr>
              <a:spcAft>
                <a:spcPts val="400"/>
              </a:spcAft>
            </a:pPr>
            <a:r>
              <a:rPr sz="1100">
                <a:solidFill>
                  <a:srgbClr val="1E293B"/>
                </a:solidFill>
                <a:latin typeface="Arial"/>
              </a:rPr>
              <a:t>• High Alpha (Niche Demand, High Pay):</a:t>
            </a:r>
          </a:p>
          <a:p>
            <a:pPr>
              <a:spcAft>
                <a:spcPts val="400"/>
              </a:spcAft>
            </a:pPr>
            <a:r>
              <a:rPr sz="1100">
                <a:solidFill>
                  <a:srgbClr val="1E293B"/>
                </a:solidFill>
                <a:latin typeface="Arial"/>
              </a:rPr>
              <a:t>•   - Deep Learning / LLMs (₹18.0L median)</a:t>
            </a:r>
          </a:p>
          <a:p>
            <a:pPr>
              <a:spcAft>
                <a:spcPts val="400"/>
              </a:spcAft>
            </a:pPr>
            <a:r>
              <a:rPr sz="1100">
                <a:solidFill>
                  <a:srgbClr val="1E293B"/>
                </a:solidFill>
                <a:latin typeface="Arial"/>
              </a:rPr>
              <a:t>•   - Cloud Data Architecture (AWS/GCP, ₹19.5L)</a:t>
            </a:r>
          </a:p>
          <a:p>
            <a:pPr>
              <a:spcAft>
                <a:spcPts val="400"/>
              </a:spcAft>
            </a:pPr>
            <a:r>
              <a:rPr sz="1100">
                <a:solidFill>
                  <a:srgbClr val="1E293B"/>
                </a:solidFill>
                <a:latin typeface="Arial"/>
              </a:rPr>
              <a:t>•   - Business Storytelling (High hike multiplier)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Junior Data Scientists: High vs. Low Salary Hike Profiles (N=139)</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6_jds_skill_comparison_profiles.png"/>
          <p:cNvPicPr>
            <a:picLocks noChangeAspect="1"/>
          </p:cNvPicPr>
          <p:nvPr/>
        </p:nvPicPr>
        <p:blipFill>
          <a:blip r:embed="rId2"/>
          <a:stretch>
            <a:fillRect/>
          </a:stretch>
        </p:blipFill>
        <p:spPr>
          <a:xfrm>
            <a:off x="731520" y="1645920"/>
            <a:ext cx="6400800" cy="4572000"/>
          </a:xfrm>
          <a:prstGeom prst="rect">
            <a:avLst/>
          </a:prstGeom>
        </p:spPr>
      </p:pic>
      <p:sp>
        <p:nvSpPr>
          <p:cNvPr id="5" name="Rounded Rectangle 4"/>
          <p:cNvSpPr/>
          <p:nvPr/>
        </p:nvSpPr>
        <p:spPr>
          <a:xfrm>
            <a:off x="7406640" y="1645920"/>
            <a:ext cx="402336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783080"/>
            <a:ext cx="3657600" cy="4297680"/>
          </a:xfrm>
          <a:prstGeom prst="rect">
            <a:avLst/>
          </a:prstGeom>
          <a:noFill/>
        </p:spPr>
        <p:txBody>
          <a:bodyPr wrap="square" tIns="0" lIns="0" rIns="0">
            <a:spAutoFit/>
          </a:bodyPr>
          <a:lstStyle/>
          <a:p>
            <a:pPr>
              <a:spcAft>
                <a:spcPts val="600"/>
              </a:spcAft>
            </a:pPr>
            <a:r>
              <a:rPr sz="1300" b="1">
                <a:solidFill>
                  <a:srgbClr val="0F172A"/>
                </a:solidFill>
                <a:latin typeface="Arial"/>
              </a:rPr>
              <a:t>Skill Competency Findings</a:t>
            </a:r>
          </a:p>
          <a:p>
            <a:pPr>
              <a:spcAft>
                <a:spcPts val="400"/>
              </a:spcAft>
            </a:pPr>
            <a:r>
              <a:rPr sz="1100">
                <a:solidFill>
                  <a:srgbClr val="1E293B"/>
                </a:solidFill>
                <a:latin typeface="Arial"/>
              </a:rPr>
              <a:t>• High Hike Cohort (n=73) vs. Low Hike (n=66):</a:t>
            </a:r>
          </a:p>
          <a:p>
            <a:pPr>
              <a:spcAft>
                <a:spcPts val="400"/>
              </a:spcAft>
            </a:pPr>
            <a:r>
              <a:rPr sz="1100">
                <a:solidFill>
                  <a:srgbClr val="1E293B"/>
                </a:solidFill>
                <a:latin typeface="Arial"/>
              </a:rPr>
              <a:t>• </a:t>
            </a:r>
          </a:p>
          <a:p>
            <a:pPr>
              <a:spcAft>
                <a:spcPts val="400"/>
              </a:spcAft>
            </a:pPr>
            <a:r>
              <a:rPr sz="1100">
                <a:solidFill>
                  <a:srgbClr val="1E293B"/>
                </a:solidFill>
                <a:latin typeface="Arial"/>
              </a:rPr>
              <a:t>• Dashboard &amp; Storytelling:</a:t>
            </a:r>
          </a:p>
          <a:p>
            <a:pPr>
              <a:spcAft>
                <a:spcPts val="400"/>
              </a:spcAft>
            </a:pPr>
            <a:r>
              <a:rPr sz="1100">
                <a:solidFill>
                  <a:srgbClr val="1E293B"/>
                </a:solidFill>
                <a:latin typeface="Arial"/>
              </a:rPr>
              <a:t>•   - High: 4.85 ± 0.49 vs. Low: 3.81 ± 1.01</a:t>
            </a:r>
          </a:p>
          <a:p>
            <a:pPr>
              <a:spcAft>
                <a:spcPts val="400"/>
              </a:spcAft>
            </a:pPr>
            <a:r>
              <a:rPr sz="1100">
                <a:solidFill>
                  <a:srgbClr val="1E293B"/>
                </a:solidFill>
                <a:latin typeface="Arial"/>
              </a:rPr>
              <a:t>•   - Welch t = 7.55, p = 3.07 × 10^-11</a:t>
            </a:r>
          </a:p>
          <a:p>
            <a:pPr>
              <a:spcAft>
                <a:spcPts val="400"/>
              </a:spcAft>
            </a:pPr>
            <a:r>
              <a:rPr sz="1100">
                <a:solidFill>
                  <a:srgbClr val="1E293B"/>
                </a:solidFill>
                <a:latin typeface="Arial"/>
              </a:rPr>
              <a:t>•   - Cohen's d = 1.323 (Large Effect)</a:t>
            </a:r>
          </a:p>
          <a:p>
            <a:pPr>
              <a:spcAft>
                <a:spcPts val="400"/>
              </a:spcAft>
            </a:pPr>
            <a:r>
              <a:rPr sz="1100">
                <a:solidFill>
                  <a:srgbClr val="1E293B"/>
                </a:solidFill>
                <a:latin typeface="Arial"/>
              </a:rPr>
              <a:t>• </a:t>
            </a:r>
          </a:p>
          <a:p>
            <a:pPr>
              <a:spcAft>
                <a:spcPts val="400"/>
              </a:spcAft>
            </a:pPr>
            <a:r>
              <a:rPr sz="1100">
                <a:solidFill>
                  <a:srgbClr val="1E293B"/>
                </a:solidFill>
                <a:latin typeface="Arial"/>
              </a:rPr>
              <a:t>• Maths &amp; Statistics:</a:t>
            </a:r>
          </a:p>
          <a:p>
            <a:pPr>
              <a:spcAft>
                <a:spcPts val="400"/>
              </a:spcAft>
            </a:pPr>
            <a:r>
              <a:rPr sz="1100">
                <a:solidFill>
                  <a:srgbClr val="1E293B"/>
                </a:solidFill>
                <a:latin typeface="Arial"/>
              </a:rPr>
              <a:t>•   - High: 4.71 ± 0.43 vs. Low: 3.83 ± 0.95</a:t>
            </a:r>
          </a:p>
          <a:p>
            <a:pPr>
              <a:spcAft>
                <a:spcPts val="400"/>
              </a:spcAft>
            </a:pPr>
            <a:r>
              <a:rPr sz="1100">
                <a:solidFill>
                  <a:srgbClr val="1E293B"/>
                </a:solidFill>
                <a:latin typeface="Arial"/>
              </a:rPr>
              <a:t>•   - Welch t = 6.96, p = 5.71 × 10^-10</a:t>
            </a:r>
          </a:p>
          <a:p>
            <a:pPr>
              <a:spcAft>
                <a:spcPts val="400"/>
              </a:spcAft>
            </a:pPr>
            <a:r>
              <a:rPr sz="1100">
                <a:solidFill>
                  <a:srgbClr val="1E293B"/>
                </a:solidFill>
                <a:latin typeface="Arial"/>
              </a:rPr>
              <a:t>•   - Cohen's d = 1.222 (Large Effect)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The 'Big Data Trap': BUSTING THE ED-TECH MARKETING MYTH</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4572000"/>
          </a:xfrm>
          <a:prstGeom prst="roundRect">
            <a:avLst/>
          </a:prstGeom>
          <a:solidFill>
            <a:srgbClr val="F1F5F9"/>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The Marketing Myth vs. Reality</a:t>
            </a:r>
          </a:p>
          <a:p>
            <a:pPr>
              <a:spcAft>
                <a:spcPts val="400"/>
              </a:spcAft>
            </a:pPr>
            <a:r>
              <a:rPr sz="1100">
                <a:solidFill>
                  <a:srgbClr val="1E293B"/>
                </a:solidFill>
                <a:latin typeface="Arial"/>
              </a:rPr>
              <a:t>• What Ed-Tech Sells to Freshers &amp; Restarters:</a:t>
            </a:r>
          </a:p>
          <a:p>
            <a:pPr>
              <a:spcAft>
                <a:spcPts val="400"/>
              </a:spcAft>
            </a:pPr>
            <a:r>
              <a:rPr sz="1100">
                <a:solidFill>
                  <a:srgbClr val="1E293B"/>
                </a:solidFill>
                <a:latin typeface="Arial"/>
              </a:rPr>
              <a:t>•   - 'Master Hadoop, Spark, and Distributed Clusters!'</a:t>
            </a:r>
          </a:p>
          <a:p>
            <a:pPr>
              <a:spcAft>
                <a:spcPts val="400"/>
              </a:spcAft>
            </a:pPr>
            <a:r>
              <a:rPr sz="1100">
                <a:solidFill>
                  <a:srgbClr val="1E293B"/>
                </a:solidFill>
                <a:latin typeface="Arial"/>
              </a:rPr>
              <a:t>•   - Promises that big data infrastructure guarantees 300% hikes.</a:t>
            </a:r>
          </a:p>
          <a:p>
            <a:pPr>
              <a:spcAft>
                <a:spcPts val="400"/>
              </a:spcAft>
            </a:pPr>
            <a:r>
              <a:rPr sz="1100">
                <a:solidFill>
                  <a:srgbClr val="1E293B"/>
                </a:solidFill>
                <a:latin typeface="Arial"/>
              </a:rPr>
              <a:t>• </a:t>
            </a:r>
          </a:p>
          <a:p>
            <a:pPr>
              <a:spcAft>
                <a:spcPts val="400"/>
              </a:spcAft>
            </a:pPr>
            <a:r>
              <a:rPr sz="1100">
                <a:solidFill>
                  <a:srgbClr val="1E293B"/>
                </a:solidFill>
                <a:latin typeface="Arial"/>
              </a:rPr>
              <a:t>• What the Empirical Data Proves (N=139):</a:t>
            </a:r>
          </a:p>
          <a:p>
            <a:pPr>
              <a:spcAft>
                <a:spcPts val="400"/>
              </a:spcAft>
            </a:pPr>
            <a:r>
              <a:rPr sz="1100">
                <a:solidFill>
                  <a:srgbClr val="1E293B"/>
                </a:solidFill>
                <a:latin typeface="Arial"/>
              </a:rPr>
              <a:t>•   - High Hike Mean: 3.94 ± 0.71</a:t>
            </a:r>
          </a:p>
          <a:p>
            <a:pPr>
              <a:spcAft>
                <a:spcPts val="400"/>
              </a:spcAft>
            </a:pPr>
            <a:r>
              <a:rPr sz="1100">
                <a:solidFill>
                  <a:srgbClr val="1E293B"/>
                </a:solidFill>
                <a:latin typeface="Arial"/>
              </a:rPr>
              <a:t>•   - Low Hike Mean: 3.75 ± 0.97</a:t>
            </a:r>
          </a:p>
          <a:p>
            <a:pPr>
              <a:spcAft>
                <a:spcPts val="400"/>
              </a:spcAft>
            </a:pPr>
            <a:r>
              <a:rPr sz="1100">
                <a:solidFill>
                  <a:srgbClr val="1E293B"/>
                </a:solidFill>
                <a:latin typeface="Arial"/>
              </a:rPr>
              <a:t>•   - Welch's t = 1.303, p = 0.195 (Not Significant)</a:t>
            </a:r>
          </a:p>
          <a:p>
            <a:pPr>
              <a:spcAft>
                <a:spcPts val="400"/>
              </a:spcAft>
            </a:pPr>
            <a:r>
              <a:rPr sz="1100">
                <a:solidFill>
                  <a:srgbClr val="1E293B"/>
                </a:solidFill>
                <a:latin typeface="Arial"/>
              </a:rPr>
              <a:t>•   - Mann-Whitney U p = 0.217 (Not Significant)</a:t>
            </a:r>
          </a:p>
          <a:p>
            <a:pPr>
              <a:spcAft>
                <a:spcPts val="400"/>
              </a:spcAft>
            </a:pPr>
            <a:r>
              <a:rPr sz="1100">
                <a:solidFill>
                  <a:srgbClr val="1E293B"/>
                </a:solidFill>
                <a:latin typeface="Arial"/>
              </a:rPr>
              <a:t>•   - Cohen's d = 0.225 (Negligible Effect)</a:t>
            </a:r>
          </a:p>
          <a:p>
            <a:pPr>
              <a:spcAft>
                <a:spcPts val="400"/>
              </a:spcAft>
            </a:pPr>
            <a:r>
              <a:rPr sz="1100">
                <a:solidFill>
                  <a:srgbClr val="1E293B"/>
                </a:solidFill>
                <a:latin typeface="Arial"/>
              </a:rPr>
              <a:t>• </a:t>
            </a:r>
          </a:p>
          <a:p>
            <a:pPr>
              <a:spcAft>
                <a:spcPts val="400"/>
              </a:spcAft>
            </a:pPr>
            <a:r>
              <a:rPr sz="1100">
                <a:solidFill>
                  <a:srgbClr val="1E293B"/>
                </a:solidFill>
                <a:latin typeface="Arial"/>
              </a:rPr>
              <a:t>• Conclusion: Big data competency shows NO statistically significant separation between high and low hike junior candidates!</a:t>
            </a:r>
          </a:p>
        </p:txBody>
      </p:sp>
      <p:sp>
        <p:nvSpPr>
          <p:cNvPr id="6" name="Rounded Rectangle 5"/>
          <p:cNvSpPr/>
          <p:nvPr/>
        </p:nvSpPr>
        <p:spPr>
          <a:xfrm>
            <a:off x="6217920" y="1645920"/>
            <a:ext cx="5120640" cy="457200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What Actually Commands High Hikes</a:t>
            </a:r>
          </a:p>
          <a:p>
            <a:pPr>
              <a:spcAft>
                <a:spcPts val="400"/>
              </a:spcAft>
            </a:pPr>
            <a:r>
              <a:rPr sz="1100">
                <a:solidFill>
                  <a:srgbClr val="1E293B"/>
                </a:solidFill>
                <a:latin typeface="Arial"/>
              </a:rPr>
              <a:t>• 1. Dashboard &amp; Storytelling (PowerBI / Tableau / Exec Pres):</a:t>
            </a:r>
          </a:p>
          <a:p>
            <a:pPr>
              <a:spcAft>
                <a:spcPts val="400"/>
              </a:spcAft>
            </a:pPr>
            <a:r>
              <a:rPr sz="1100">
                <a:solidFill>
                  <a:srgbClr val="1E293B"/>
                </a:solidFill>
                <a:latin typeface="Arial"/>
              </a:rPr>
              <a:t>•   - Cohen's d = 1.323 (p = 3.07 × 10^-11)</a:t>
            </a:r>
          </a:p>
          <a:p>
            <a:pPr>
              <a:spcAft>
                <a:spcPts val="400"/>
              </a:spcAft>
            </a:pPr>
            <a:r>
              <a:rPr sz="1100">
                <a:solidFill>
                  <a:srgbClr val="1E293B"/>
                </a:solidFill>
                <a:latin typeface="Arial"/>
              </a:rPr>
              <a:t>•   - Explaining models to business leaders commands the highest hike.</a:t>
            </a:r>
          </a:p>
          <a:p>
            <a:pPr>
              <a:spcAft>
                <a:spcPts val="400"/>
              </a:spcAft>
            </a:pPr>
            <a:r>
              <a:rPr sz="1100">
                <a:solidFill>
                  <a:srgbClr val="1E293B"/>
                </a:solidFill>
                <a:latin typeface="Arial"/>
              </a:rPr>
              <a:t>• </a:t>
            </a:r>
          </a:p>
          <a:p>
            <a:pPr>
              <a:spcAft>
                <a:spcPts val="400"/>
              </a:spcAft>
            </a:pPr>
            <a:r>
              <a:rPr sz="1100">
                <a:solidFill>
                  <a:srgbClr val="1E293B"/>
                </a:solidFill>
                <a:latin typeface="Arial"/>
              </a:rPr>
              <a:t>• 2. Maths &amp; Statistics (Probability / Linear Algebra / Inference):</a:t>
            </a:r>
          </a:p>
          <a:p>
            <a:pPr>
              <a:spcAft>
                <a:spcPts val="400"/>
              </a:spcAft>
            </a:pPr>
            <a:r>
              <a:rPr sz="1100">
                <a:solidFill>
                  <a:srgbClr val="1E293B"/>
                </a:solidFill>
                <a:latin typeface="Arial"/>
              </a:rPr>
              <a:t>•   - Cohen's d = 1.222 (p = 5.71 × 10^-10)</a:t>
            </a:r>
          </a:p>
          <a:p>
            <a:pPr>
              <a:spcAft>
                <a:spcPts val="400"/>
              </a:spcAft>
            </a:pPr>
            <a:r>
              <a:rPr sz="1100">
                <a:solidFill>
                  <a:srgbClr val="1E293B"/>
                </a:solidFill>
                <a:latin typeface="Arial"/>
              </a:rPr>
              <a:t>•   - Understanding WHY models work prevents hallucination &amp; mistakes.</a:t>
            </a:r>
          </a:p>
          <a:p>
            <a:pPr>
              <a:spcAft>
                <a:spcPts val="400"/>
              </a:spcAft>
            </a:pPr>
            <a:r>
              <a:rPr sz="1100">
                <a:solidFill>
                  <a:srgbClr val="1E293B"/>
                </a:solidFill>
                <a:latin typeface="Arial"/>
              </a:rPr>
              <a:t>• </a:t>
            </a:r>
          </a:p>
          <a:p>
            <a:pPr>
              <a:spcAft>
                <a:spcPts val="400"/>
              </a:spcAft>
            </a:pPr>
            <a:r>
              <a:rPr sz="1100">
                <a:solidFill>
                  <a:srgbClr val="1E293B"/>
                </a:solidFill>
                <a:latin typeface="Arial"/>
              </a:rPr>
              <a:t>• 3. Clean Coding &amp; Software Engineering:</a:t>
            </a:r>
          </a:p>
          <a:p>
            <a:pPr>
              <a:spcAft>
                <a:spcPts val="400"/>
              </a:spcAft>
            </a:pPr>
            <a:r>
              <a:rPr sz="1100">
                <a:solidFill>
                  <a:srgbClr val="1E293B"/>
                </a:solidFill>
                <a:latin typeface="Arial"/>
              </a:rPr>
              <a:t>•   - Cohen's d = 0.985 (p = 9.49 × 10^-8)</a:t>
            </a:r>
          </a:p>
          <a:p>
            <a:pPr>
              <a:spcAft>
                <a:spcPts val="400"/>
              </a:spcAft>
            </a:pPr>
            <a:r>
              <a:rPr sz="1100">
                <a:solidFill>
                  <a:srgbClr val="1E293B"/>
                </a:solidFill>
                <a:latin typeface="Arial"/>
              </a:rPr>
              <a:t>•   - Writing modular, production-ready Python.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Multivariable Logistic Regression: Odds Ratios for Junior Hike</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7_jds_logistic_odds_ratios.png"/>
          <p:cNvPicPr>
            <a:picLocks noChangeAspect="1"/>
          </p:cNvPicPr>
          <p:nvPr/>
        </p:nvPicPr>
        <p:blipFill>
          <a:blip r:embed="rId2"/>
          <a:stretch>
            <a:fillRect/>
          </a:stretch>
        </p:blipFill>
        <p:spPr>
          <a:xfrm>
            <a:off x="731520" y="1645920"/>
            <a:ext cx="6400800" cy="4572000"/>
          </a:xfrm>
          <a:prstGeom prst="rect">
            <a:avLst/>
          </a:prstGeom>
        </p:spPr>
      </p:pic>
      <p:sp>
        <p:nvSpPr>
          <p:cNvPr id="5" name="Rounded Rectangle 4"/>
          <p:cNvSpPr/>
          <p:nvPr/>
        </p:nvSpPr>
        <p:spPr>
          <a:xfrm>
            <a:off x="7406640" y="1645920"/>
            <a:ext cx="402336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783080"/>
            <a:ext cx="3657600" cy="4297680"/>
          </a:xfrm>
          <a:prstGeom prst="rect">
            <a:avLst/>
          </a:prstGeom>
          <a:noFill/>
        </p:spPr>
        <p:txBody>
          <a:bodyPr wrap="square" tIns="0" lIns="0" rIns="0">
            <a:spAutoFit/>
          </a:bodyPr>
          <a:lstStyle/>
          <a:p>
            <a:pPr>
              <a:spcAft>
                <a:spcPts val="600"/>
              </a:spcAft>
            </a:pPr>
            <a:r>
              <a:rPr sz="1300" b="1">
                <a:solidFill>
                  <a:srgbClr val="0F172A"/>
                </a:solidFill>
                <a:latin typeface="Arial"/>
              </a:rPr>
              <a:t>Adjusted Odds Ratios (MLE)</a:t>
            </a:r>
          </a:p>
          <a:p>
            <a:pPr>
              <a:spcAft>
                <a:spcPts val="400"/>
              </a:spcAft>
            </a:pPr>
            <a:r>
              <a:rPr sz="1100">
                <a:solidFill>
                  <a:srgbClr val="1E293B"/>
                </a:solidFill>
                <a:latin typeface="Arial"/>
              </a:rPr>
              <a:t>• Maths &amp; Statistics:</a:t>
            </a:r>
          </a:p>
          <a:p>
            <a:pPr>
              <a:spcAft>
                <a:spcPts val="400"/>
              </a:spcAft>
            </a:pPr>
            <a:r>
              <a:rPr sz="1100">
                <a:solidFill>
                  <a:srgbClr val="1E293B"/>
                </a:solidFill>
                <a:latin typeface="Arial"/>
              </a:rPr>
              <a:t>•   - OR = 6.18 [95% CI: 2.33, 16.36] (p = 0.00025) ***</a:t>
            </a:r>
          </a:p>
          <a:p>
            <a:pPr>
              <a:spcAft>
                <a:spcPts val="400"/>
              </a:spcAft>
            </a:pPr>
            <a:r>
              <a:rPr sz="1100">
                <a:solidFill>
                  <a:srgbClr val="1E293B"/>
                </a:solidFill>
                <a:latin typeface="Arial"/>
              </a:rPr>
              <a:t>• </a:t>
            </a:r>
          </a:p>
          <a:p>
            <a:pPr>
              <a:spcAft>
                <a:spcPts val="400"/>
              </a:spcAft>
            </a:pPr>
            <a:r>
              <a:rPr sz="1100">
                <a:solidFill>
                  <a:srgbClr val="1E293B"/>
                </a:solidFill>
                <a:latin typeface="Arial"/>
              </a:rPr>
              <a:t>• Dashboard &amp; Storytelling:</a:t>
            </a:r>
          </a:p>
          <a:p>
            <a:pPr>
              <a:spcAft>
                <a:spcPts val="400"/>
              </a:spcAft>
            </a:pPr>
            <a:r>
              <a:rPr sz="1100">
                <a:solidFill>
                  <a:srgbClr val="1E293B"/>
                </a:solidFill>
                <a:latin typeface="Arial"/>
              </a:rPr>
              <a:t>•   - OR = 3.88 [95% CI: 1.88, 8.00] (p = 0.00025) ***</a:t>
            </a:r>
          </a:p>
          <a:p>
            <a:pPr>
              <a:spcAft>
                <a:spcPts val="400"/>
              </a:spcAft>
            </a:pPr>
            <a:r>
              <a:rPr sz="1100">
                <a:solidFill>
                  <a:srgbClr val="1E293B"/>
                </a:solidFill>
                <a:latin typeface="Arial"/>
              </a:rPr>
              <a:t>• </a:t>
            </a:r>
          </a:p>
          <a:p>
            <a:pPr>
              <a:spcAft>
                <a:spcPts val="400"/>
              </a:spcAft>
            </a:pPr>
            <a:r>
              <a:rPr sz="1100">
                <a:solidFill>
                  <a:srgbClr val="1E293B"/>
                </a:solidFill>
                <a:latin typeface="Arial"/>
              </a:rPr>
              <a:t>• AI &amp; Machine Learning:</a:t>
            </a:r>
          </a:p>
          <a:p>
            <a:pPr>
              <a:spcAft>
                <a:spcPts val="400"/>
              </a:spcAft>
            </a:pPr>
            <a:r>
              <a:rPr sz="1100">
                <a:solidFill>
                  <a:srgbClr val="1E293B"/>
                </a:solidFill>
                <a:latin typeface="Arial"/>
              </a:rPr>
              <a:t>•   - OR = 3.54 [95% CI: 1.41, 8.90] (p = 0.007) **</a:t>
            </a:r>
          </a:p>
          <a:p>
            <a:pPr>
              <a:spcAft>
                <a:spcPts val="400"/>
              </a:spcAft>
            </a:pPr>
            <a:r>
              <a:rPr sz="1100">
                <a:solidFill>
                  <a:srgbClr val="1E293B"/>
                </a:solidFill>
                <a:latin typeface="Arial"/>
              </a:rPr>
              <a:t>• </a:t>
            </a:r>
          </a:p>
          <a:p>
            <a:pPr>
              <a:spcAft>
                <a:spcPts val="400"/>
              </a:spcAft>
            </a:pPr>
            <a:r>
              <a:rPr sz="1100">
                <a:solidFill>
                  <a:srgbClr val="1E293B"/>
                </a:solidFill>
                <a:latin typeface="Arial"/>
              </a:rPr>
              <a:t>• Coding Skills:</a:t>
            </a:r>
          </a:p>
          <a:p>
            <a:pPr>
              <a:spcAft>
                <a:spcPts val="400"/>
              </a:spcAft>
            </a:pPr>
            <a:r>
              <a:rPr sz="1100">
                <a:solidFill>
                  <a:srgbClr val="1E293B"/>
                </a:solidFill>
                <a:latin typeface="Arial"/>
              </a:rPr>
              <a:t>•   - OR = 1.84 [95% CI: 0.94, 3.61] (p = 0.076) ns</a:t>
            </a:r>
          </a:p>
          <a:p>
            <a:pPr>
              <a:spcAft>
                <a:spcPts val="400"/>
              </a:spcAft>
            </a:pPr>
            <a:r>
              <a:rPr sz="1100">
                <a:solidFill>
                  <a:srgbClr val="1E293B"/>
                </a:solidFill>
                <a:latin typeface="Arial"/>
              </a:rPr>
              <a:t>• </a:t>
            </a:r>
          </a:p>
          <a:p>
            <a:pPr>
              <a:spcAft>
                <a:spcPts val="400"/>
              </a:spcAft>
            </a:pPr>
            <a:r>
              <a:rPr sz="1100">
                <a:solidFill>
                  <a:srgbClr val="1E293B"/>
                </a:solidFill>
                <a:latin typeface="Arial"/>
              </a:rPr>
              <a:t>• Model Fit: McFadden Pseudo R² = 0.4993, LLR p = 3.61 × 10^-19.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Junior Machine Learning Benchmark: 5-Fold Stratified Cross-Validation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8_jds_cv_model_benchmark.png"/>
          <p:cNvPicPr>
            <a:picLocks noChangeAspect="1"/>
          </p:cNvPicPr>
          <p:nvPr/>
        </p:nvPicPr>
        <p:blipFill>
          <a:blip r:embed="rId2"/>
          <a:stretch>
            <a:fillRect/>
          </a:stretch>
        </p:blipFill>
        <p:spPr>
          <a:xfrm>
            <a:off x="731520" y="1645920"/>
            <a:ext cx="6400800" cy="4572000"/>
          </a:xfrm>
          <a:prstGeom prst="rect">
            <a:avLst/>
          </a:prstGeom>
        </p:spPr>
      </p:pic>
      <p:sp>
        <p:nvSpPr>
          <p:cNvPr id="5" name="Rounded Rectangle 4"/>
          <p:cNvSpPr/>
          <p:nvPr/>
        </p:nvSpPr>
        <p:spPr>
          <a:xfrm>
            <a:off x="7406640" y="1645920"/>
            <a:ext cx="402336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783080"/>
            <a:ext cx="3657600" cy="4297680"/>
          </a:xfrm>
          <a:prstGeom prst="rect">
            <a:avLst/>
          </a:prstGeom>
          <a:noFill/>
        </p:spPr>
        <p:txBody>
          <a:bodyPr wrap="square" tIns="0" lIns="0" rIns="0">
            <a:spAutoFit/>
          </a:bodyPr>
          <a:lstStyle/>
          <a:p>
            <a:pPr>
              <a:spcAft>
                <a:spcPts val="600"/>
              </a:spcAft>
            </a:pPr>
            <a:r>
              <a:rPr sz="1300" b="1">
                <a:solidFill>
                  <a:srgbClr val="0F172A"/>
                </a:solidFill>
                <a:latin typeface="Arial"/>
              </a:rPr>
              <a:t>5-Fold Cross-Validation Results</a:t>
            </a:r>
          </a:p>
          <a:p>
            <a:pPr>
              <a:spcAft>
                <a:spcPts val="400"/>
              </a:spcAft>
            </a:pPr>
            <a:r>
              <a:rPr sz="1100">
                <a:solidFill>
                  <a:srgbClr val="1E293B"/>
                </a:solidFill>
                <a:latin typeface="Arial"/>
              </a:rPr>
              <a:t>• Logistic Regression (L2) - Selected Model:</a:t>
            </a:r>
          </a:p>
          <a:p>
            <a:pPr>
              <a:spcAft>
                <a:spcPts val="400"/>
              </a:spcAft>
            </a:pPr>
            <a:r>
              <a:rPr sz="1100">
                <a:solidFill>
                  <a:srgbClr val="1E293B"/>
                </a:solidFill>
                <a:latin typeface="Arial"/>
              </a:rPr>
              <a:t>•   - ROC-AUC: 0.903 ± 0.042</a:t>
            </a:r>
          </a:p>
          <a:p>
            <a:pPr>
              <a:spcAft>
                <a:spcPts val="400"/>
              </a:spcAft>
            </a:pPr>
            <a:r>
              <a:rPr sz="1100">
                <a:solidFill>
                  <a:srgbClr val="1E293B"/>
                </a:solidFill>
                <a:latin typeface="Arial"/>
              </a:rPr>
              <a:t>•   - Accuracy: 81.9% ± 7.5%</a:t>
            </a:r>
          </a:p>
          <a:p>
            <a:pPr>
              <a:spcAft>
                <a:spcPts val="400"/>
              </a:spcAft>
            </a:pPr>
            <a:r>
              <a:rPr sz="1100">
                <a:solidFill>
                  <a:srgbClr val="1E293B"/>
                </a:solidFill>
                <a:latin typeface="Arial"/>
              </a:rPr>
              <a:t>•   - F1-Score: 0.828 ± 0.080</a:t>
            </a:r>
          </a:p>
          <a:p>
            <a:pPr>
              <a:spcAft>
                <a:spcPts val="400"/>
              </a:spcAft>
            </a:pPr>
            <a:r>
              <a:rPr sz="1100">
                <a:solidFill>
                  <a:srgbClr val="1E293B"/>
                </a:solidFill>
                <a:latin typeface="Arial"/>
              </a:rPr>
              <a:t>• </a:t>
            </a:r>
          </a:p>
          <a:p>
            <a:pPr>
              <a:spcAft>
                <a:spcPts val="400"/>
              </a:spcAft>
            </a:pPr>
            <a:r>
              <a:rPr sz="1100">
                <a:solidFill>
                  <a:srgbClr val="1E293B"/>
                </a:solidFill>
                <a:latin typeface="Arial"/>
              </a:rPr>
              <a:t>• XGBoost Classifier (Depth=3):</a:t>
            </a:r>
          </a:p>
          <a:p>
            <a:pPr>
              <a:spcAft>
                <a:spcPts val="400"/>
              </a:spcAft>
            </a:pPr>
            <a:r>
              <a:rPr sz="1100">
                <a:solidFill>
                  <a:srgbClr val="1E293B"/>
                </a:solidFill>
                <a:latin typeface="Arial"/>
              </a:rPr>
              <a:t>•   - ROC-AUC: 0.873 ± 0.058</a:t>
            </a:r>
          </a:p>
          <a:p>
            <a:pPr>
              <a:spcAft>
                <a:spcPts val="400"/>
              </a:spcAft>
            </a:pPr>
            <a:r>
              <a:rPr sz="1100">
                <a:solidFill>
                  <a:srgbClr val="1E293B"/>
                </a:solidFill>
                <a:latin typeface="Arial"/>
              </a:rPr>
              <a:t>•   - Accuracy: 83.4% ± 5.5%</a:t>
            </a:r>
          </a:p>
          <a:p>
            <a:pPr>
              <a:spcAft>
                <a:spcPts val="400"/>
              </a:spcAft>
            </a:pPr>
            <a:r>
              <a:rPr sz="1100">
                <a:solidFill>
                  <a:srgbClr val="1E293B"/>
                </a:solidFill>
                <a:latin typeface="Arial"/>
              </a:rPr>
              <a:t>• </a:t>
            </a:r>
          </a:p>
          <a:p>
            <a:pPr>
              <a:spcAft>
                <a:spcPts val="400"/>
              </a:spcAft>
            </a:pPr>
            <a:r>
              <a:rPr sz="1100">
                <a:solidFill>
                  <a:srgbClr val="1E293B"/>
                </a:solidFill>
                <a:latin typeface="Arial"/>
              </a:rPr>
              <a:t>• Random Forest (Depth=4):</a:t>
            </a:r>
          </a:p>
          <a:p>
            <a:pPr>
              <a:spcAft>
                <a:spcPts val="400"/>
              </a:spcAft>
            </a:pPr>
            <a:r>
              <a:rPr sz="1100">
                <a:solidFill>
                  <a:srgbClr val="1E293B"/>
                </a:solidFill>
                <a:latin typeface="Arial"/>
              </a:rPr>
              <a:t>•   - ROC-AUC: 0.872 ± 0.061</a:t>
            </a:r>
          </a:p>
          <a:p>
            <a:pPr>
              <a:spcAft>
                <a:spcPts val="400"/>
              </a:spcAft>
            </a:pPr>
            <a:r>
              <a:rPr sz="1100">
                <a:solidFill>
                  <a:srgbClr val="1E293B"/>
                </a:solidFill>
                <a:latin typeface="Arial"/>
              </a:rPr>
              <a:t>• </a:t>
            </a:r>
          </a:p>
          <a:p>
            <a:pPr>
              <a:spcAft>
                <a:spcPts val="400"/>
              </a:spcAft>
            </a:pPr>
            <a:r>
              <a:rPr sz="1100">
                <a:solidFill>
                  <a:srgbClr val="1E293B"/>
                </a:solidFill>
                <a:latin typeface="Arial"/>
              </a:rPr>
              <a:t>• Production Engine:</a:t>
            </a:r>
          </a:p>
          <a:p>
            <a:pPr>
              <a:spcAft>
                <a:spcPts val="400"/>
              </a:spcAft>
            </a:pPr>
            <a:r>
              <a:rPr sz="1100">
                <a:solidFill>
                  <a:srgbClr val="1E293B"/>
                </a:solidFill>
                <a:latin typeface="Arial"/>
              </a:rPr>
              <a:t>•   - Exported as 'jds_hike_model.joblib' for live inference in Punarshuru.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Senior Data Scientists: The Transition from Execution to Leadership</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9_sds_ocean_trait_violins.png"/>
          <p:cNvPicPr>
            <a:picLocks noChangeAspect="1"/>
          </p:cNvPicPr>
          <p:nvPr/>
        </p:nvPicPr>
        <p:blipFill>
          <a:blip r:embed="rId2"/>
          <a:stretch>
            <a:fillRect/>
          </a:stretch>
        </p:blipFill>
        <p:spPr>
          <a:xfrm>
            <a:off x="731520" y="1645920"/>
            <a:ext cx="6400800" cy="4572000"/>
          </a:xfrm>
          <a:prstGeom prst="rect">
            <a:avLst/>
          </a:prstGeom>
        </p:spPr>
      </p:pic>
      <p:sp>
        <p:nvSpPr>
          <p:cNvPr id="5" name="Rounded Rectangle 4"/>
          <p:cNvSpPr/>
          <p:nvPr/>
        </p:nvSpPr>
        <p:spPr>
          <a:xfrm>
            <a:off x="7406640" y="1645920"/>
            <a:ext cx="402336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783080"/>
            <a:ext cx="3657600" cy="4297680"/>
          </a:xfrm>
          <a:prstGeom prst="rect">
            <a:avLst/>
          </a:prstGeom>
          <a:noFill/>
        </p:spPr>
        <p:txBody>
          <a:bodyPr wrap="square" tIns="0" lIns="0" rIns="0">
            <a:spAutoFit/>
          </a:bodyPr>
          <a:lstStyle/>
          <a:p>
            <a:pPr>
              <a:spcAft>
                <a:spcPts val="600"/>
              </a:spcAft>
            </a:pPr>
            <a:r>
              <a:rPr sz="1300" b="1">
                <a:solidFill>
                  <a:srgbClr val="0F172A"/>
                </a:solidFill>
                <a:latin typeface="Arial"/>
              </a:rPr>
              <a:t>Senior Cohort Comparison (N=161)</a:t>
            </a:r>
          </a:p>
          <a:p>
            <a:pPr>
              <a:spcAft>
                <a:spcPts val="400"/>
              </a:spcAft>
            </a:pPr>
            <a:r>
              <a:rPr sz="1100">
                <a:solidFill>
                  <a:srgbClr val="1E293B"/>
                </a:solidFill>
                <a:latin typeface="Arial"/>
              </a:rPr>
              <a:t>• Conscientiousness:</a:t>
            </a:r>
          </a:p>
          <a:p>
            <a:pPr>
              <a:spcAft>
                <a:spcPts val="400"/>
              </a:spcAft>
            </a:pPr>
            <a:r>
              <a:rPr sz="1100">
                <a:solidFill>
                  <a:srgbClr val="1E293B"/>
                </a:solidFill>
                <a:latin typeface="Arial"/>
              </a:rPr>
              <a:t>•   - High Success: 53.68 ± 6.10</a:t>
            </a:r>
          </a:p>
          <a:p>
            <a:pPr>
              <a:spcAft>
                <a:spcPts val="400"/>
              </a:spcAft>
            </a:pPr>
            <a:r>
              <a:rPr sz="1100">
                <a:solidFill>
                  <a:srgbClr val="1E293B"/>
                </a:solidFill>
                <a:latin typeface="Arial"/>
              </a:rPr>
              <a:t>•   - Baseline / Low: 35.74 ± 12.59</a:t>
            </a:r>
          </a:p>
          <a:p>
            <a:pPr>
              <a:spcAft>
                <a:spcPts val="400"/>
              </a:spcAft>
            </a:pPr>
            <a:r>
              <a:rPr sz="1100">
                <a:solidFill>
                  <a:srgbClr val="1E293B"/>
                </a:solidFill>
                <a:latin typeface="Arial"/>
              </a:rPr>
              <a:t>•   - Welch t = 11.30, p = 6.87 × 10^-20</a:t>
            </a:r>
          </a:p>
          <a:p>
            <a:pPr>
              <a:spcAft>
                <a:spcPts val="400"/>
              </a:spcAft>
            </a:pPr>
            <a:r>
              <a:rPr sz="1100">
                <a:solidFill>
                  <a:srgbClr val="1E293B"/>
                </a:solidFill>
                <a:latin typeface="Arial"/>
              </a:rPr>
              <a:t>•   - Cohen's d = 1.847 (Huge Effect)</a:t>
            </a:r>
          </a:p>
          <a:p>
            <a:pPr>
              <a:spcAft>
                <a:spcPts val="400"/>
              </a:spcAft>
            </a:pPr>
            <a:r>
              <a:rPr sz="1100">
                <a:solidFill>
                  <a:srgbClr val="1E293B"/>
                </a:solidFill>
                <a:latin typeface="Arial"/>
              </a:rPr>
              <a:t>• </a:t>
            </a:r>
          </a:p>
          <a:p>
            <a:pPr>
              <a:spcAft>
                <a:spcPts val="400"/>
              </a:spcAft>
            </a:pPr>
            <a:r>
              <a:rPr sz="1100">
                <a:solidFill>
                  <a:srgbClr val="1E293B"/>
                </a:solidFill>
                <a:latin typeface="Arial"/>
              </a:rPr>
              <a:t>• Openness to Experience:</a:t>
            </a:r>
          </a:p>
          <a:p>
            <a:pPr>
              <a:spcAft>
                <a:spcPts val="400"/>
              </a:spcAft>
            </a:pPr>
            <a:r>
              <a:rPr sz="1100">
                <a:solidFill>
                  <a:srgbClr val="1E293B"/>
                </a:solidFill>
                <a:latin typeface="Arial"/>
              </a:rPr>
              <a:t>•   - High Success: 48.49 ± 5.68</a:t>
            </a:r>
          </a:p>
          <a:p>
            <a:pPr>
              <a:spcAft>
                <a:spcPts val="400"/>
              </a:spcAft>
            </a:pPr>
            <a:r>
              <a:rPr sz="1100">
                <a:solidFill>
                  <a:srgbClr val="1E293B"/>
                </a:solidFill>
                <a:latin typeface="Arial"/>
              </a:rPr>
              <a:t>•   - Baseline / Low: 33.32 ± 10.68</a:t>
            </a:r>
          </a:p>
          <a:p>
            <a:pPr>
              <a:spcAft>
                <a:spcPts val="400"/>
              </a:spcAft>
            </a:pPr>
            <a:r>
              <a:rPr sz="1100">
                <a:solidFill>
                  <a:srgbClr val="1E293B"/>
                </a:solidFill>
                <a:latin typeface="Arial"/>
              </a:rPr>
              <a:t>•   - Welch t = 11.07, p = 1.18 × 10^-19</a:t>
            </a:r>
          </a:p>
          <a:p>
            <a:pPr>
              <a:spcAft>
                <a:spcPts val="400"/>
              </a:spcAft>
            </a:pPr>
            <a:r>
              <a:rPr sz="1100">
                <a:solidFill>
                  <a:srgbClr val="1E293B"/>
                </a:solidFill>
                <a:latin typeface="Arial"/>
              </a:rPr>
              <a:t>•   - Cohen's d = 1.803 (Huge Effect)</a:t>
            </a:r>
          </a:p>
          <a:p>
            <a:pPr>
              <a:spcAft>
                <a:spcPts val="400"/>
              </a:spcAft>
            </a:pPr>
            <a:r>
              <a:rPr sz="1100">
                <a:solidFill>
                  <a:srgbClr val="1E293B"/>
                </a:solidFill>
                <a:latin typeface="Arial"/>
              </a:rPr>
              <a:t>• </a:t>
            </a:r>
          </a:p>
          <a:p>
            <a:pPr>
              <a:spcAft>
                <a:spcPts val="400"/>
              </a:spcAft>
            </a:pPr>
            <a:r>
              <a:rPr sz="1100">
                <a:solidFill>
                  <a:srgbClr val="1E293B"/>
                </a:solidFill>
                <a:latin typeface="Arial"/>
              </a:rPr>
              <a:t>• Extraversion: d = 1.132 (p = 2.15 × 10^-10)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The Neuroticism Myth: What Really Drives Data Leadership?</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The Neuroticism Paradox</a:t>
            </a:r>
          </a:p>
          <a:p>
            <a:pPr>
              <a:spcAft>
                <a:spcPts val="400"/>
              </a:spcAft>
            </a:pPr>
            <a:r>
              <a:rPr sz="1100">
                <a:solidFill>
                  <a:srgbClr val="1E293B"/>
                </a:solidFill>
                <a:latin typeface="Arial"/>
              </a:rPr>
              <a:t>• Conventional Management Belief:</a:t>
            </a:r>
          </a:p>
          <a:p>
            <a:pPr>
              <a:spcAft>
                <a:spcPts val="400"/>
              </a:spcAft>
            </a:pPr>
            <a:r>
              <a:rPr sz="1100">
                <a:solidFill>
                  <a:srgbClr val="1E293B"/>
                </a:solidFill>
                <a:latin typeface="Arial"/>
              </a:rPr>
              <a:t>•   - 'Great leaders must have zero stress, zero anxiety, and stoic emotional detachment.'</a:t>
            </a:r>
          </a:p>
          <a:p>
            <a:pPr>
              <a:spcAft>
                <a:spcPts val="400"/>
              </a:spcAft>
            </a:pPr>
            <a:r>
              <a:rPr sz="1100">
                <a:solidFill>
                  <a:srgbClr val="1E293B"/>
                </a:solidFill>
                <a:latin typeface="Arial"/>
              </a:rPr>
              <a:t>• </a:t>
            </a:r>
          </a:p>
          <a:p>
            <a:pPr>
              <a:spcAft>
                <a:spcPts val="400"/>
              </a:spcAft>
            </a:pPr>
            <a:r>
              <a:rPr sz="1100">
                <a:solidFill>
                  <a:srgbClr val="1E293B"/>
                </a:solidFill>
                <a:latin typeface="Arial"/>
              </a:rPr>
              <a:t>• What Empirical Psychometrics Proves:</a:t>
            </a:r>
          </a:p>
          <a:p>
            <a:pPr>
              <a:spcAft>
                <a:spcPts val="400"/>
              </a:spcAft>
            </a:pPr>
            <a:r>
              <a:rPr sz="1100">
                <a:solidFill>
                  <a:srgbClr val="1E293B"/>
                </a:solidFill>
                <a:latin typeface="Arial"/>
              </a:rPr>
              <a:t>•   - High Success Mean: 36.13 ± 9.27</a:t>
            </a:r>
          </a:p>
          <a:p>
            <a:pPr>
              <a:spcAft>
                <a:spcPts val="400"/>
              </a:spcAft>
            </a:pPr>
            <a:r>
              <a:rPr sz="1100">
                <a:solidFill>
                  <a:srgbClr val="1E293B"/>
                </a:solidFill>
                <a:latin typeface="Arial"/>
              </a:rPr>
              <a:t>•   - Low Success Mean: 36.26 ± 13.21</a:t>
            </a:r>
          </a:p>
          <a:p>
            <a:pPr>
              <a:spcAft>
                <a:spcPts val="400"/>
              </a:spcAft>
            </a:pPr>
            <a:r>
              <a:rPr sz="1100">
                <a:solidFill>
                  <a:srgbClr val="1E293B"/>
                </a:solidFill>
                <a:latin typeface="Arial"/>
              </a:rPr>
              <a:t>•   - Welch's t = -0.074, p = 0.941 (Statistically Indistinguishable)</a:t>
            </a:r>
          </a:p>
          <a:p>
            <a:pPr>
              <a:spcAft>
                <a:spcPts val="400"/>
              </a:spcAft>
            </a:pPr>
            <a:r>
              <a:rPr sz="1100">
                <a:solidFill>
                  <a:srgbClr val="1E293B"/>
                </a:solidFill>
                <a:latin typeface="Arial"/>
              </a:rPr>
              <a:t>•   - Cohen's d = -0.012 (Negligible)</a:t>
            </a:r>
          </a:p>
          <a:p>
            <a:pPr>
              <a:spcAft>
                <a:spcPts val="400"/>
              </a:spcAft>
            </a:pPr>
            <a:r>
              <a:rPr sz="1100">
                <a:solidFill>
                  <a:srgbClr val="1E293B"/>
                </a:solidFill>
                <a:latin typeface="Arial"/>
              </a:rPr>
              <a:t>• </a:t>
            </a:r>
          </a:p>
          <a:p>
            <a:pPr>
              <a:spcAft>
                <a:spcPts val="400"/>
              </a:spcAft>
            </a:pPr>
            <a:r>
              <a:rPr sz="1100">
                <a:solidFill>
                  <a:srgbClr val="1E293B"/>
                </a:solidFill>
                <a:latin typeface="Arial"/>
              </a:rPr>
              <a:t>• Takeaway: High performance does NOT require emotional numbness. Normal human stress is orthogonal to career success.</a:t>
            </a:r>
          </a:p>
        </p:txBody>
      </p:sp>
      <p:sp>
        <p:nvSpPr>
          <p:cNvPr id="6" name="Rounded Rectangle 5"/>
          <p:cNvSpPr/>
          <p:nvPr/>
        </p:nvSpPr>
        <p:spPr>
          <a:xfrm>
            <a:off x="6217920" y="1645920"/>
            <a:ext cx="5120640" cy="457200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The Real Executive Drivers</a:t>
            </a:r>
          </a:p>
          <a:p>
            <a:pPr>
              <a:spcAft>
                <a:spcPts val="400"/>
              </a:spcAft>
            </a:pPr>
            <a:r>
              <a:rPr sz="1100">
                <a:solidFill>
                  <a:srgbClr val="1E293B"/>
                </a:solidFill>
                <a:latin typeface="Arial"/>
              </a:rPr>
              <a:t>• 1. Conscientiousness (d = 1.847, p = 6.87 × 10^-20):</a:t>
            </a:r>
          </a:p>
          <a:p>
            <a:pPr>
              <a:spcAft>
                <a:spcPts val="400"/>
              </a:spcAft>
            </a:pPr>
            <a:r>
              <a:rPr sz="1100">
                <a:solidFill>
                  <a:srgbClr val="1E293B"/>
                </a:solidFill>
                <a:latin typeface="Arial"/>
              </a:rPr>
              <a:t>•   - Methodical delivery, rigorous project governance, meeting commitments.</a:t>
            </a:r>
          </a:p>
          <a:p>
            <a:pPr>
              <a:spcAft>
                <a:spcPts val="400"/>
              </a:spcAft>
            </a:pPr>
            <a:r>
              <a:rPr sz="1100">
                <a:solidFill>
                  <a:srgbClr val="1E293B"/>
                </a:solidFill>
                <a:latin typeface="Arial"/>
              </a:rPr>
              <a:t>• </a:t>
            </a:r>
          </a:p>
          <a:p>
            <a:pPr>
              <a:spcAft>
                <a:spcPts val="400"/>
              </a:spcAft>
            </a:pPr>
            <a:r>
              <a:rPr sz="1100">
                <a:solidFill>
                  <a:srgbClr val="1E293B"/>
                </a:solidFill>
                <a:latin typeface="Arial"/>
              </a:rPr>
              <a:t>• 2. Openness to Experience (d = 1.803, p = 1.18 × 10^-19):</a:t>
            </a:r>
          </a:p>
          <a:p>
            <a:pPr>
              <a:spcAft>
                <a:spcPts val="400"/>
              </a:spcAft>
            </a:pPr>
            <a:r>
              <a:rPr sz="1100">
                <a:solidFill>
                  <a:srgbClr val="1E293B"/>
                </a:solidFill>
                <a:latin typeface="Arial"/>
              </a:rPr>
              <a:t>•   - Architectural curiosity, adopting GenAI paradigms, questioning assumptions.</a:t>
            </a:r>
          </a:p>
          <a:p>
            <a:pPr>
              <a:spcAft>
                <a:spcPts val="400"/>
              </a:spcAft>
            </a:pPr>
            <a:r>
              <a:rPr sz="1100">
                <a:solidFill>
                  <a:srgbClr val="1E293B"/>
                </a:solidFill>
                <a:latin typeface="Arial"/>
              </a:rPr>
              <a:t>• </a:t>
            </a:r>
          </a:p>
          <a:p>
            <a:pPr>
              <a:spcAft>
                <a:spcPts val="400"/>
              </a:spcAft>
            </a:pPr>
            <a:r>
              <a:rPr sz="1100">
                <a:solidFill>
                  <a:srgbClr val="1E293B"/>
                </a:solidFill>
                <a:latin typeface="Arial"/>
              </a:rPr>
              <a:t>• 3. Extraversion (d = 1.132, p = 2.15 × 10^-10):</a:t>
            </a:r>
          </a:p>
          <a:p>
            <a:pPr>
              <a:spcAft>
                <a:spcPts val="400"/>
              </a:spcAft>
            </a:pPr>
            <a:r>
              <a:rPr sz="1100">
                <a:solidFill>
                  <a:srgbClr val="1E293B"/>
                </a:solidFill>
                <a:latin typeface="Arial"/>
              </a:rPr>
              <a:t>•   - Cross-functional stakeholder advocacy, client pitching, mentoring juniors.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Senior Executive Logistic Regression: Odds Multipliers per 10-Pts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0_sds_odds_ratios_forest.png"/>
          <p:cNvPicPr>
            <a:picLocks noChangeAspect="1"/>
          </p:cNvPicPr>
          <p:nvPr/>
        </p:nvPicPr>
        <p:blipFill>
          <a:blip r:embed="rId2"/>
          <a:stretch>
            <a:fillRect/>
          </a:stretch>
        </p:blipFill>
        <p:spPr>
          <a:xfrm>
            <a:off x="731520" y="1645920"/>
            <a:ext cx="6400800" cy="4572000"/>
          </a:xfrm>
          <a:prstGeom prst="rect">
            <a:avLst/>
          </a:prstGeom>
        </p:spPr>
      </p:pic>
      <p:sp>
        <p:nvSpPr>
          <p:cNvPr id="5" name="Rounded Rectangle 4"/>
          <p:cNvSpPr/>
          <p:nvPr/>
        </p:nvSpPr>
        <p:spPr>
          <a:xfrm>
            <a:off x="7406640" y="1645920"/>
            <a:ext cx="402336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783080"/>
            <a:ext cx="3657600" cy="4297680"/>
          </a:xfrm>
          <a:prstGeom prst="rect">
            <a:avLst/>
          </a:prstGeom>
          <a:noFill/>
        </p:spPr>
        <p:txBody>
          <a:bodyPr wrap="square" tIns="0" lIns="0" rIns="0">
            <a:spAutoFit/>
          </a:bodyPr>
          <a:lstStyle/>
          <a:p>
            <a:pPr>
              <a:spcAft>
                <a:spcPts val="600"/>
              </a:spcAft>
            </a:pPr>
            <a:r>
              <a:rPr sz="1300" b="1">
                <a:solidFill>
                  <a:srgbClr val="0F172A"/>
                </a:solidFill>
                <a:latin typeface="Arial"/>
              </a:rPr>
              <a:t>Adjusted Odds Ratios (+10 Pts)</a:t>
            </a:r>
          </a:p>
          <a:p>
            <a:pPr>
              <a:spcAft>
                <a:spcPts val="400"/>
              </a:spcAft>
            </a:pPr>
            <a:r>
              <a:rPr sz="1100">
                <a:solidFill>
                  <a:srgbClr val="1E293B"/>
                </a:solidFill>
                <a:latin typeface="Arial"/>
              </a:rPr>
              <a:t>• Openness to Experience:</a:t>
            </a:r>
          </a:p>
          <a:p>
            <a:pPr>
              <a:spcAft>
                <a:spcPts val="400"/>
              </a:spcAft>
            </a:pPr>
            <a:r>
              <a:rPr sz="1100">
                <a:solidFill>
                  <a:srgbClr val="1E293B"/>
                </a:solidFill>
                <a:latin typeface="Arial"/>
              </a:rPr>
              <a:t>•   - OR = 14.70 [95% CI: 4.72, 45.75] (p = 3.48 × 10^-6) ***</a:t>
            </a:r>
          </a:p>
          <a:p>
            <a:pPr>
              <a:spcAft>
                <a:spcPts val="400"/>
              </a:spcAft>
            </a:pPr>
            <a:r>
              <a:rPr sz="1100">
                <a:solidFill>
                  <a:srgbClr val="1E293B"/>
                </a:solidFill>
                <a:latin typeface="Arial"/>
              </a:rPr>
              <a:t>• </a:t>
            </a:r>
          </a:p>
          <a:p>
            <a:pPr>
              <a:spcAft>
                <a:spcPts val="400"/>
              </a:spcAft>
            </a:pPr>
            <a:r>
              <a:rPr sz="1100">
                <a:solidFill>
                  <a:srgbClr val="1E293B"/>
                </a:solidFill>
                <a:latin typeface="Arial"/>
              </a:rPr>
              <a:t>• Conscientiousness:</a:t>
            </a:r>
          </a:p>
          <a:p>
            <a:pPr>
              <a:spcAft>
                <a:spcPts val="400"/>
              </a:spcAft>
            </a:pPr>
            <a:r>
              <a:rPr sz="1100">
                <a:solidFill>
                  <a:srgbClr val="1E293B"/>
                </a:solidFill>
                <a:latin typeface="Arial"/>
              </a:rPr>
              <a:t>•   - OR = 12.04 [95% CI: 3.81, 38.11] (p = 2.30 × 10^-5) ***</a:t>
            </a:r>
          </a:p>
          <a:p>
            <a:pPr>
              <a:spcAft>
                <a:spcPts val="400"/>
              </a:spcAft>
            </a:pPr>
            <a:r>
              <a:rPr sz="1100">
                <a:solidFill>
                  <a:srgbClr val="1E293B"/>
                </a:solidFill>
                <a:latin typeface="Arial"/>
              </a:rPr>
              <a:t>• </a:t>
            </a:r>
          </a:p>
          <a:p>
            <a:pPr>
              <a:spcAft>
                <a:spcPts val="400"/>
              </a:spcAft>
            </a:pPr>
            <a:r>
              <a:rPr sz="1100">
                <a:solidFill>
                  <a:srgbClr val="1E293B"/>
                </a:solidFill>
                <a:latin typeface="Arial"/>
              </a:rPr>
              <a:t>• Extraversion:</a:t>
            </a:r>
          </a:p>
          <a:p>
            <a:pPr>
              <a:spcAft>
                <a:spcPts val="400"/>
              </a:spcAft>
            </a:pPr>
            <a:r>
              <a:rPr sz="1100">
                <a:solidFill>
                  <a:srgbClr val="1E293B"/>
                </a:solidFill>
                <a:latin typeface="Arial"/>
              </a:rPr>
              <a:t>•   - OR = 3.09 [95% CI: 1.40, 6.84] (p = 0.0054) **</a:t>
            </a:r>
          </a:p>
          <a:p>
            <a:pPr>
              <a:spcAft>
                <a:spcPts val="400"/>
              </a:spcAft>
            </a:pPr>
            <a:r>
              <a:rPr sz="1100">
                <a:solidFill>
                  <a:srgbClr val="1E293B"/>
                </a:solidFill>
                <a:latin typeface="Arial"/>
              </a:rPr>
              <a:t>• </a:t>
            </a:r>
          </a:p>
          <a:p>
            <a:pPr>
              <a:spcAft>
                <a:spcPts val="400"/>
              </a:spcAft>
            </a:pPr>
            <a:r>
              <a:rPr sz="1100">
                <a:solidFill>
                  <a:srgbClr val="1E293B"/>
                </a:solidFill>
                <a:latin typeface="Arial"/>
              </a:rPr>
              <a:t>• Agreeableness:</a:t>
            </a:r>
          </a:p>
          <a:p>
            <a:pPr>
              <a:spcAft>
                <a:spcPts val="400"/>
              </a:spcAft>
            </a:pPr>
            <a:r>
              <a:rPr sz="1100">
                <a:solidFill>
                  <a:srgbClr val="1E293B"/>
                </a:solidFill>
                <a:latin typeface="Arial"/>
              </a:rPr>
              <a:t>•   - OR = 2.22 [95% CI: 0.98, 5.03] (p = 0.056) ns</a:t>
            </a:r>
          </a:p>
          <a:p>
            <a:pPr>
              <a:spcAft>
                <a:spcPts val="400"/>
              </a:spcAft>
            </a:pPr>
            <a:r>
              <a:rPr sz="1100">
                <a:solidFill>
                  <a:srgbClr val="1E293B"/>
                </a:solidFill>
                <a:latin typeface="Arial"/>
              </a:rPr>
              <a:t>• </a:t>
            </a:r>
          </a:p>
          <a:p>
            <a:pPr>
              <a:spcAft>
                <a:spcPts val="400"/>
              </a:spcAft>
            </a:pPr>
            <a:r>
              <a:rPr sz="1100">
                <a:solidFill>
                  <a:srgbClr val="1E293B"/>
                </a:solidFill>
                <a:latin typeface="Arial"/>
              </a:rPr>
              <a:t>• Model Fit: McFadden Pseudo R² = 0.7567, LLR p = 1.52 × 10^-34.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Senior Machine Learning Benchmark &amp; Near-Perfect Separation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11_sds_roc_and_importance.png"/>
          <p:cNvPicPr>
            <a:picLocks noChangeAspect="1"/>
          </p:cNvPicPr>
          <p:nvPr/>
        </p:nvPicPr>
        <p:blipFill>
          <a:blip r:embed="rId2"/>
          <a:stretch>
            <a:fillRect/>
          </a:stretch>
        </p:blipFill>
        <p:spPr>
          <a:xfrm>
            <a:off x="731520" y="1645920"/>
            <a:ext cx="6400800" cy="4572000"/>
          </a:xfrm>
          <a:prstGeom prst="rect">
            <a:avLst/>
          </a:prstGeom>
        </p:spPr>
      </p:pic>
      <p:sp>
        <p:nvSpPr>
          <p:cNvPr id="5" name="Rounded Rectangle 4"/>
          <p:cNvSpPr/>
          <p:nvPr/>
        </p:nvSpPr>
        <p:spPr>
          <a:xfrm>
            <a:off x="7406640" y="1645920"/>
            <a:ext cx="402336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783080"/>
            <a:ext cx="3657600" cy="4297680"/>
          </a:xfrm>
          <a:prstGeom prst="rect">
            <a:avLst/>
          </a:prstGeom>
          <a:noFill/>
        </p:spPr>
        <p:txBody>
          <a:bodyPr wrap="square" tIns="0" lIns="0" rIns="0">
            <a:spAutoFit/>
          </a:bodyPr>
          <a:lstStyle/>
          <a:p>
            <a:pPr>
              <a:spcAft>
                <a:spcPts val="600"/>
              </a:spcAft>
            </a:pPr>
            <a:r>
              <a:rPr sz="1300" b="1">
                <a:solidFill>
                  <a:srgbClr val="0F172A"/>
                </a:solidFill>
                <a:latin typeface="Arial"/>
              </a:rPr>
              <a:t>5-Fold CV Predictive Accuracy</a:t>
            </a:r>
          </a:p>
          <a:p>
            <a:pPr>
              <a:spcAft>
                <a:spcPts val="400"/>
              </a:spcAft>
            </a:pPr>
            <a:r>
              <a:rPr sz="1100">
                <a:solidFill>
                  <a:srgbClr val="1E293B"/>
                </a:solidFill>
                <a:latin typeface="Arial"/>
              </a:rPr>
              <a:t>• Random Forest Classifier (Selected):</a:t>
            </a:r>
          </a:p>
          <a:p>
            <a:pPr>
              <a:spcAft>
                <a:spcPts val="400"/>
              </a:spcAft>
            </a:pPr>
            <a:r>
              <a:rPr sz="1100">
                <a:solidFill>
                  <a:srgbClr val="1E293B"/>
                </a:solidFill>
                <a:latin typeface="Arial"/>
              </a:rPr>
              <a:t>•   - ROC-AUC: 0.995 ± 0.011</a:t>
            </a:r>
          </a:p>
          <a:p>
            <a:pPr>
              <a:spcAft>
                <a:spcPts val="400"/>
              </a:spcAft>
            </a:pPr>
            <a:r>
              <a:rPr sz="1100">
                <a:solidFill>
                  <a:srgbClr val="1E293B"/>
                </a:solidFill>
                <a:latin typeface="Arial"/>
              </a:rPr>
              <a:t>•   - Accuracy: 95.0% ± 4.2%</a:t>
            </a:r>
          </a:p>
          <a:p>
            <a:pPr>
              <a:spcAft>
                <a:spcPts val="400"/>
              </a:spcAft>
            </a:pPr>
            <a:r>
              <a:rPr sz="1100">
                <a:solidFill>
                  <a:srgbClr val="1E293B"/>
                </a:solidFill>
                <a:latin typeface="Arial"/>
              </a:rPr>
              <a:t>•   - F1-Score: 0.952 ± 0.043</a:t>
            </a:r>
          </a:p>
          <a:p>
            <a:pPr>
              <a:spcAft>
                <a:spcPts val="400"/>
              </a:spcAft>
            </a:pPr>
            <a:r>
              <a:rPr sz="1100">
                <a:solidFill>
                  <a:srgbClr val="1E293B"/>
                </a:solidFill>
                <a:latin typeface="Arial"/>
              </a:rPr>
              <a:t>• </a:t>
            </a:r>
          </a:p>
          <a:p>
            <a:pPr>
              <a:spcAft>
                <a:spcPts val="400"/>
              </a:spcAft>
            </a:pPr>
            <a:r>
              <a:rPr sz="1100">
                <a:solidFill>
                  <a:srgbClr val="1E293B"/>
                </a:solidFill>
                <a:latin typeface="Arial"/>
              </a:rPr>
              <a:t>• XGBoost Classifier:</a:t>
            </a:r>
          </a:p>
          <a:p>
            <a:pPr>
              <a:spcAft>
                <a:spcPts val="400"/>
              </a:spcAft>
            </a:pPr>
            <a:r>
              <a:rPr sz="1100">
                <a:solidFill>
                  <a:srgbClr val="1E293B"/>
                </a:solidFill>
                <a:latin typeface="Arial"/>
              </a:rPr>
              <a:t>•   - ROC-AUC: 0.979 ± 0.026</a:t>
            </a:r>
          </a:p>
          <a:p>
            <a:pPr>
              <a:spcAft>
                <a:spcPts val="400"/>
              </a:spcAft>
            </a:pPr>
            <a:r>
              <a:rPr sz="1100">
                <a:solidFill>
                  <a:srgbClr val="1E293B"/>
                </a:solidFill>
                <a:latin typeface="Arial"/>
              </a:rPr>
              <a:t>•   - Accuracy: 93.1% ± 5.4%</a:t>
            </a:r>
          </a:p>
          <a:p>
            <a:pPr>
              <a:spcAft>
                <a:spcPts val="400"/>
              </a:spcAft>
            </a:pPr>
            <a:r>
              <a:rPr sz="1100">
                <a:solidFill>
                  <a:srgbClr val="1E293B"/>
                </a:solidFill>
                <a:latin typeface="Arial"/>
              </a:rPr>
              <a:t>• </a:t>
            </a:r>
          </a:p>
          <a:p>
            <a:pPr>
              <a:spcAft>
                <a:spcPts val="400"/>
              </a:spcAft>
            </a:pPr>
            <a:r>
              <a:rPr sz="1100">
                <a:solidFill>
                  <a:srgbClr val="1E293B"/>
                </a:solidFill>
                <a:latin typeface="Arial"/>
              </a:rPr>
              <a:t>• Calibrated Logistic Regression:</a:t>
            </a:r>
          </a:p>
          <a:p>
            <a:pPr>
              <a:spcAft>
                <a:spcPts val="400"/>
              </a:spcAft>
            </a:pPr>
            <a:r>
              <a:rPr sz="1100">
                <a:solidFill>
                  <a:srgbClr val="1E293B"/>
                </a:solidFill>
                <a:latin typeface="Arial"/>
              </a:rPr>
              <a:t>•   - ROC-AUC: 0.949 ± 0.049</a:t>
            </a:r>
          </a:p>
          <a:p>
            <a:pPr>
              <a:spcAft>
                <a:spcPts val="400"/>
              </a:spcAft>
            </a:pPr>
            <a:r>
              <a:rPr sz="1100">
                <a:solidFill>
                  <a:srgbClr val="1E293B"/>
                </a:solidFill>
                <a:latin typeface="Arial"/>
              </a:rPr>
              <a:t>•   - Accuracy: 90.7% ± 5.9%</a:t>
            </a:r>
          </a:p>
          <a:p>
            <a:pPr>
              <a:spcAft>
                <a:spcPts val="400"/>
              </a:spcAft>
            </a:pPr>
            <a:r>
              <a:rPr sz="1100">
                <a:solidFill>
                  <a:srgbClr val="1E293B"/>
                </a:solidFill>
                <a:latin typeface="Arial"/>
              </a:rPr>
              <a:t>• </a:t>
            </a:r>
          </a:p>
          <a:p>
            <a:pPr>
              <a:spcAft>
                <a:spcPts val="400"/>
              </a:spcAft>
            </a:pPr>
            <a:r>
              <a:rPr sz="1100">
                <a:solidFill>
                  <a:srgbClr val="1E293B"/>
                </a:solidFill>
                <a:latin typeface="Arial"/>
              </a:rPr>
              <a:t>• Exported Model: 'sds_success_model.joblib'.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Synthesis: The Three Empirical Axioms of Data Science Careers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2918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Axiom 1: Junior Velocity</a:t>
            </a:r>
          </a:p>
          <a:p>
            <a:pPr>
              <a:spcAft>
                <a:spcPts val="400"/>
              </a:spcAft>
            </a:pPr>
            <a:r>
              <a:rPr sz="1100">
                <a:solidFill>
                  <a:srgbClr val="1E293B"/>
                </a:solidFill>
                <a:latin typeface="Arial"/>
              </a:rPr>
              <a:t>• Stop chasing distributed Big Data tools early in your career.</a:t>
            </a:r>
          </a:p>
          <a:p>
            <a:pPr>
              <a:spcAft>
                <a:spcPts val="400"/>
              </a:spcAft>
            </a:pPr>
            <a:r>
              <a:rPr sz="1100">
                <a:solidFill>
                  <a:srgbClr val="1E293B"/>
                </a:solidFill>
                <a:latin typeface="Arial"/>
              </a:rPr>
              <a:t>• Invest heavily in Business Storytelling (OR = 3.88) and Core Mathematics (OR = 6.18).</a:t>
            </a:r>
          </a:p>
          <a:p>
            <a:pPr>
              <a:spcAft>
                <a:spcPts val="400"/>
              </a:spcAft>
            </a:pPr>
            <a:r>
              <a:rPr sz="1100">
                <a:solidFill>
                  <a:srgbClr val="1E293B"/>
                </a:solidFill>
                <a:latin typeface="Arial"/>
              </a:rPr>
              <a:t>• Hiring managers reward those who can explain why models work and how they drive revenue.</a:t>
            </a:r>
          </a:p>
        </p:txBody>
      </p:sp>
      <p:sp>
        <p:nvSpPr>
          <p:cNvPr id="6" name="Rounded Rectangle 5"/>
          <p:cNvSpPr/>
          <p:nvPr/>
        </p:nvSpPr>
        <p:spPr>
          <a:xfrm>
            <a:off x="4389120" y="1645920"/>
            <a:ext cx="32918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Axiom 2: Senior Ascension</a:t>
            </a:r>
          </a:p>
          <a:p>
            <a:pPr>
              <a:spcAft>
                <a:spcPts val="400"/>
              </a:spcAft>
            </a:pPr>
            <a:r>
              <a:rPr sz="1100">
                <a:solidFill>
                  <a:srgbClr val="1E293B"/>
                </a:solidFill>
                <a:latin typeface="Arial"/>
              </a:rPr>
              <a:t>• Technical skill reaches an asymptote at 5+ years experience.</a:t>
            </a:r>
          </a:p>
          <a:p>
            <a:pPr>
              <a:spcAft>
                <a:spcPts val="400"/>
              </a:spcAft>
            </a:pPr>
            <a:r>
              <a:rPr sz="1100">
                <a:solidFill>
                  <a:srgbClr val="1E293B"/>
                </a:solidFill>
                <a:latin typeface="Arial"/>
              </a:rPr>
              <a:t>• Executive promotions require Conscientiousness (OR = 12.04) and Openness (OR = 14.70).</a:t>
            </a:r>
          </a:p>
          <a:p>
            <a:pPr>
              <a:spcAft>
                <a:spcPts val="400"/>
              </a:spcAft>
            </a:pPr>
            <a:r>
              <a:rPr sz="1100">
                <a:solidFill>
                  <a:srgbClr val="1E293B"/>
                </a:solidFill>
                <a:latin typeface="Arial"/>
              </a:rPr>
              <a:t>• Master project governance, adapt to new AI stacks, and communicate outward.</a:t>
            </a:r>
          </a:p>
        </p:txBody>
      </p:sp>
      <p:sp>
        <p:nvSpPr>
          <p:cNvPr id="8" name="Rounded Rectangle 7"/>
          <p:cNvSpPr/>
          <p:nvPr/>
        </p:nvSpPr>
        <p:spPr>
          <a:xfrm>
            <a:off x="8046720" y="1645920"/>
            <a:ext cx="32918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Axiom 3: Macro Arbitrage</a:t>
            </a:r>
          </a:p>
          <a:p>
            <a:pPr>
              <a:spcAft>
                <a:spcPts val="400"/>
              </a:spcAft>
            </a:pPr>
            <a:r>
              <a:rPr sz="1100">
                <a:solidFill>
                  <a:srgbClr val="1E293B"/>
                </a:solidFill>
                <a:latin typeface="Arial"/>
              </a:rPr>
              <a:t>• Experience commands ₹1.64 LPA annually on average.</a:t>
            </a:r>
          </a:p>
          <a:p>
            <a:pPr>
              <a:spcAft>
                <a:spcPts val="400"/>
              </a:spcAft>
            </a:pPr>
            <a:r>
              <a:rPr sz="1100">
                <a:solidFill>
                  <a:srgbClr val="1E293B"/>
                </a:solidFill>
                <a:latin typeface="Arial"/>
              </a:rPr>
              <a:t>• Bangalore / Hyderabad offer a 43.2% premium over Tier-2 locations.</a:t>
            </a:r>
          </a:p>
          <a:p>
            <a:pPr>
              <a:spcAft>
                <a:spcPts val="400"/>
              </a:spcAft>
            </a:pPr>
            <a:r>
              <a:rPr sz="1100">
                <a:solidFill>
                  <a:srgbClr val="1E293B"/>
                </a:solidFill>
                <a:latin typeface="Arial"/>
              </a:rPr>
              <a:t>• Target GCCs and product tech over mass IT services for 2.5x higher compensation.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Engineering Translation: The Punarshuru Platform Architecture</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29184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1. Econometric Engine (Backend)</a:t>
            </a:r>
          </a:p>
          <a:p>
            <a:pPr>
              <a:spcAft>
                <a:spcPts val="400"/>
              </a:spcAft>
            </a:pPr>
            <a:r>
              <a:rPr sz="1100">
                <a:solidFill>
                  <a:srgbClr val="1E293B"/>
                </a:solidFill>
                <a:latin typeface="Arial"/>
              </a:rPr>
              <a:t>• FastAPI microservices in Python.</a:t>
            </a:r>
          </a:p>
          <a:p>
            <a:pPr>
              <a:spcAft>
                <a:spcPts val="400"/>
              </a:spcAft>
            </a:pPr>
            <a:r>
              <a:rPr sz="1100">
                <a:solidFill>
                  <a:srgbClr val="1E293B"/>
                </a:solidFill>
                <a:latin typeface="Arial"/>
              </a:rPr>
              <a:t>• Mincerian Wage API: /api/market/wage-curve</a:t>
            </a:r>
          </a:p>
          <a:p>
            <a:pPr>
              <a:spcAft>
                <a:spcPts val="400"/>
              </a:spcAft>
            </a:pPr>
            <a:r>
              <a:rPr sz="1100">
                <a:solidFill>
                  <a:srgbClr val="1E293B"/>
                </a:solidFill>
                <a:latin typeface="Arial"/>
              </a:rPr>
              <a:t>• Junior Hike ML: /api/readiness/jds-hike</a:t>
            </a:r>
          </a:p>
          <a:p>
            <a:pPr>
              <a:spcAft>
                <a:spcPts val="400"/>
              </a:spcAft>
            </a:pPr>
            <a:r>
              <a:rPr sz="1100">
                <a:solidFill>
                  <a:srgbClr val="1E293B"/>
                </a:solidFill>
                <a:latin typeface="Arial"/>
              </a:rPr>
              <a:t>• Senior Executive ML: /api/readiness/sds-success</a:t>
            </a:r>
          </a:p>
          <a:p>
            <a:pPr>
              <a:spcAft>
                <a:spcPts val="400"/>
              </a:spcAft>
            </a:pPr>
            <a:r>
              <a:rPr sz="1100">
                <a:solidFill>
                  <a:srgbClr val="1E293B"/>
                </a:solidFill>
                <a:latin typeface="Arial"/>
              </a:rPr>
              <a:t>• Live joblib model deserialization.</a:t>
            </a:r>
          </a:p>
        </p:txBody>
      </p:sp>
      <p:sp>
        <p:nvSpPr>
          <p:cNvPr id="6" name="Rounded Rectangle 5"/>
          <p:cNvSpPr/>
          <p:nvPr/>
        </p:nvSpPr>
        <p:spPr>
          <a:xfrm>
            <a:off x="4389120" y="1645920"/>
            <a:ext cx="329184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2. Intelligence Layer (Frontend)</a:t>
            </a:r>
          </a:p>
          <a:p>
            <a:pPr>
              <a:spcAft>
                <a:spcPts val="400"/>
              </a:spcAft>
            </a:pPr>
            <a:r>
              <a:rPr sz="1100">
                <a:solidFill>
                  <a:srgbClr val="1E293B"/>
                </a:solidFill>
                <a:latin typeface="Arial"/>
              </a:rPr>
              <a:t>• React 18 + Vite + TypeScript.</a:t>
            </a:r>
          </a:p>
          <a:p>
            <a:pPr>
              <a:spcAft>
                <a:spcPts val="400"/>
              </a:spcAft>
            </a:pPr>
            <a:r>
              <a:rPr sz="1100">
                <a:solidFill>
                  <a:srgbClr val="1E293B"/>
                </a:solidFill>
                <a:latin typeface="Arial"/>
              </a:rPr>
              <a:t>• Interactive Recharts visualizations.</a:t>
            </a:r>
          </a:p>
          <a:p>
            <a:pPr>
              <a:spcAft>
                <a:spcPts val="400"/>
              </a:spcAft>
            </a:pPr>
            <a:r>
              <a:rPr sz="1100">
                <a:solidFill>
                  <a:srgbClr val="1E293B"/>
                </a:solidFill>
                <a:latin typeface="Arial"/>
              </a:rPr>
              <a:t>• Tailored navigation pathways for 3 personas.</a:t>
            </a:r>
          </a:p>
          <a:p>
            <a:pPr>
              <a:spcAft>
                <a:spcPts val="400"/>
              </a:spcAft>
            </a:pPr>
            <a:r>
              <a:rPr sz="1100">
                <a:solidFill>
                  <a:srgbClr val="1E293B"/>
                </a:solidFill>
                <a:latin typeface="Arial"/>
              </a:rPr>
              <a:t>• Zero hardcoded mocks; 100% empirical APIs.</a:t>
            </a:r>
          </a:p>
          <a:p>
            <a:pPr>
              <a:spcAft>
                <a:spcPts val="400"/>
              </a:spcAft>
            </a:pPr>
            <a:r>
              <a:rPr sz="1100">
                <a:solidFill>
                  <a:srgbClr val="1E293B"/>
                </a:solidFill>
                <a:latin typeface="Arial"/>
              </a:rPr>
              <a:t>• WCAG 2.1 AA accessible UI.</a:t>
            </a:r>
          </a:p>
        </p:txBody>
      </p:sp>
      <p:sp>
        <p:nvSpPr>
          <p:cNvPr id="8" name="Rounded Rectangle 7"/>
          <p:cNvSpPr/>
          <p:nvPr/>
        </p:nvSpPr>
        <p:spPr>
          <a:xfrm>
            <a:off x="8046720" y="1645920"/>
            <a:ext cx="3291840" cy="4572000"/>
          </a:xfrm>
          <a:prstGeom prst="roundRect">
            <a:avLst/>
          </a:prstGeom>
          <a:solidFill>
            <a:srgbClr val="F1F5F9"/>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3. Privacy &amp; Reproducibility</a:t>
            </a:r>
          </a:p>
          <a:p>
            <a:pPr>
              <a:spcAft>
                <a:spcPts val="400"/>
              </a:spcAft>
            </a:pPr>
            <a:r>
              <a:rPr sz="1100">
                <a:solidFill>
                  <a:srgbClr val="1E293B"/>
                </a:solidFill>
                <a:latin typeface="Arial"/>
              </a:rPr>
              <a:t>• Self-contained client state management.</a:t>
            </a:r>
          </a:p>
          <a:p>
            <a:pPr>
              <a:spcAft>
                <a:spcPts val="400"/>
              </a:spcAft>
            </a:pPr>
            <a:r>
              <a:rPr sz="1100">
                <a:solidFill>
                  <a:srgbClr val="1E293B"/>
                </a:solidFill>
                <a:latin typeface="Arial"/>
              </a:rPr>
              <a:t>• No personal telemetry leakage.</a:t>
            </a:r>
          </a:p>
          <a:p>
            <a:pPr>
              <a:spcAft>
                <a:spcPts val="400"/>
              </a:spcAft>
            </a:pPr>
            <a:r>
              <a:rPr sz="1100">
                <a:solidFill>
                  <a:srgbClr val="1E293B"/>
                </a:solidFill>
                <a:latin typeface="Arial"/>
              </a:rPr>
              <a:t>• Deterministic model inference.</a:t>
            </a:r>
          </a:p>
          <a:p>
            <a:pPr>
              <a:spcAft>
                <a:spcPts val="400"/>
              </a:spcAft>
            </a:pPr>
            <a:r>
              <a:rPr sz="1100">
                <a:solidFill>
                  <a:srgbClr val="1E293B"/>
                </a:solidFill>
                <a:latin typeface="Arial"/>
              </a:rPr>
              <a:t>• Full regression test coverage in Vitest &amp; Pytest.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Persona Translation 1: Empowering Career Restarters</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The Restarter Playbook in Punarshuru</a:t>
            </a:r>
          </a:p>
          <a:p>
            <a:pPr>
              <a:spcAft>
                <a:spcPts val="400"/>
              </a:spcAft>
            </a:pPr>
            <a:r>
              <a:rPr sz="1100">
                <a:solidFill>
                  <a:srgbClr val="1E293B"/>
                </a:solidFill>
                <a:latin typeface="Arial"/>
              </a:rPr>
              <a:t>• Re-entry Confidence Builder:</a:t>
            </a:r>
          </a:p>
          <a:p>
            <a:pPr>
              <a:spcAft>
                <a:spcPts val="400"/>
              </a:spcAft>
            </a:pPr>
            <a:r>
              <a:rPr sz="1100">
                <a:solidFill>
                  <a:srgbClr val="1E293B"/>
                </a:solidFill>
                <a:latin typeface="Arial"/>
              </a:rPr>
              <a:t>•   - Demystifies required skills: Shows restarters they DO NOT need to learn distributed clusters before re-entering.</a:t>
            </a:r>
          </a:p>
          <a:p>
            <a:pPr>
              <a:spcAft>
                <a:spcPts val="400"/>
              </a:spcAft>
            </a:pPr>
            <a:r>
              <a:rPr sz="1100">
                <a:solidFill>
                  <a:srgbClr val="1E293B"/>
                </a:solidFill>
                <a:latin typeface="Arial"/>
              </a:rPr>
              <a:t>•   - Prescribes high-ROI modules: PowerBI / Tableau storytelling and SQL analytics.</a:t>
            </a:r>
          </a:p>
          <a:p>
            <a:pPr>
              <a:spcAft>
                <a:spcPts val="400"/>
              </a:spcAft>
            </a:pPr>
            <a:r>
              <a:rPr sz="1100">
                <a:solidFill>
                  <a:srgbClr val="1E293B"/>
                </a:solidFill>
                <a:latin typeface="Arial"/>
              </a:rPr>
              <a:t>• </a:t>
            </a:r>
          </a:p>
          <a:p>
            <a:pPr>
              <a:spcAft>
                <a:spcPts val="400"/>
              </a:spcAft>
            </a:pPr>
            <a:r>
              <a:rPr sz="1100">
                <a:solidFill>
                  <a:srgbClr val="1E293B"/>
                </a:solidFill>
                <a:latin typeface="Arial"/>
              </a:rPr>
              <a:t>• Transparent Salary Benchmarking:</a:t>
            </a:r>
          </a:p>
          <a:p>
            <a:pPr>
              <a:spcAft>
                <a:spcPts val="400"/>
              </a:spcAft>
            </a:pPr>
            <a:r>
              <a:rPr sz="1100">
                <a:solidFill>
                  <a:srgbClr val="1E293B"/>
                </a:solidFill>
                <a:latin typeface="Arial"/>
              </a:rPr>
              <a:t>•   - Uses verified Bangalore/Hyd/Pune medians from N=1,602 jobs.</a:t>
            </a:r>
          </a:p>
          <a:p>
            <a:pPr>
              <a:spcAft>
                <a:spcPts val="400"/>
              </a:spcAft>
            </a:pPr>
            <a:r>
              <a:rPr sz="1100">
                <a:solidFill>
                  <a:srgbClr val="1E293B"/>
                </a:solidFill>
                <a:latin typeface="Arial"/>
              </a:rPr>
              <a:t>•   - Prevents returning women from accepting lowball offers 40% below market rate.</a:t>
            </a:r>
          </a:p>
          <a:p>
            <a:pPr>
              <a:spcAft>
                <a:spcPts val="400"/>
              </a:spcAft>
            </a:pPr>
            <a:r>
              <a:rPr sz="1100">
                <a:solidFill>
                  <a:srgbClr val="1E293B"/>
                </a:solidFill>
                <a:latin typeface="Arial"/>
              </a:rPr>
              <a:t>• </a:t>
            </a:r>
          </a:p>
          <a:p>
            <a:pPr>
              <a:spcAft>
                <a:spcPts val="400"/>
              </a:spcAft>
            </a:pPr>
            <a:r>
              <a:rPr sz="1100">
                <a:solidFill>
                  <a:srgbClr val="1E293B"/>
                </a:solidFill>
                <a:latin typeface="Arial"/>
              </a:rPr>
              <a:t>• Mincerian Gap Compensation:</a:t>
            </a:r>
          </a:p>
          <a:p>
            <a:pPr>
              <a:spcAft>
                <a:spcPts val="400"/>
              </a:spcAft>
            </a:pPr>
            <a:r>
              <a:rPr sz="1100">
                <a:solidFill>
                  <a:srgbClr val="1E293B"/>
                </a:solidFill>
                <a:latin typeface="Arial"/>
              </a:rPr>
              <a:t>•   - Demonstrates that a 2-year career break does not erase baseline wage progression.</a:t>
            </a:r>
          </a:p>
          <a:p>
            <a:pPr>
              <a:spcAft>
                <a:spcPts val="400"/>
              </a:spcAft>
            </a:pPr>
            <a:r>
              <a:rPr sz="1100">
                <a:solidFill>
                  <a:srgbClr val="1E293B"/>
                </a:solidFill>
                <a:latin typeface="Arial"/>
              </a:rPr>
              <a:t>•   - Maps target roles in Global Capability Centers (GCCs).</a:t>
            </a:r>
          </a:p>
        </p:txBody>
      </p:sp>
      <p:sp>
        <p:nvSpPr>
          <p:cNvPr id="6" name="Rounded Rectangle 5"/>
          <p:cNvSpPr/>
          <p:nvPr/>
        </p:nvSpPr>
        <p:spPr>
          <a:xfrm>
            <a:off x="6217920" y="1645920"/>
            <a:ext cx="5120640" cy="457200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Target Component: ReturneePathway.tsx</a:t>
            </a:r>
          </a:p>
          <a:p>
            <a:pPr>
              <a:spcAft>
                <a:spcPts val="400"/>
              </a:spcAft>
            </a:pPr>
            <a:r>
              <a:rPr sz="1100">
                <a:solidFill>
                  <a:srgbClr val="1E293B"/>
                </a:solidFill>
                <a:latin typeface="Arial"/>
              </a:rPr>
              <a:t>• Features Activated:</a:t>
            </a:r>
          </a:p>
          <a:p>
            <a:pPr>
              <a:spcAft>
                <a:spcPts val="400"/>
              </a:spcAft>
            </a:pPr>
            <a:r>
              <a:rPr sz="1100">
                <a:solidFill>
                  <a:srgbClr val="1E293B"/>
                </a:solidFill>
                <a:latin typeface="Arial"/>
              </a:rPr>
              <a:t>•   - Gap Impact Calculator: Displays true empirical wage impact vs. perceived penalties.</a:t>
            </a:r>
          </a:p>
          <a:p>
            <a:pPr>
              <a:spcAft>
                <a:spcPts val="400"/>
              </a:spcAft>
            </a:pPr>
            <a:r>
              <a:rPr sz="1100">
                <a:solidFill>
                  <a:srgbClr val="1E293B"/>
                </a:solidFill>
                <a:latin typeface="Arial"/>
              </a:rPr>
              <a:t>•   - Storytelling Project Showcase: Guides user to build 3 business dashboard case studies.</a:t>
            </a:r>
          </a:p>
          <a:p>
            <a:pPr>
              <a:spcAft>
                <a:spcPts val="400"/>
              </a:spcAft>
            </a:pPr>
            <a:r>
              <a:rPr sz="1100">
                <a:solidFill>
                  <a:srgbClr val="1E293B"/>
                </a:solidFill>
                <a:latin typeface="Arial"/>
              </a:rPr>
              <a:t>•   - Salary Negotiation Sidebar: Injects 25th, 50th, and 75th percentile benchmarks for target location.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Persona Translation 2: University Student CareerReadinessScan</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The Student Calibration Engine</a:t>
            </a:r>
          </a:p>
          <a:p>
            <a:pPr>
              <a:spcAft>
                <a:spcPts val="400"/>
              </a:spcAft>
            </a:pPr>
            <a:r>
              <a:rPr sz="1100">
                <a:solidFill>
                  <a:srgbClr val="1E293B"/>
                </a:solidFill>
                <a:latin typeface="Arial"/>
              </a:rPr>
              <a:t>• Curriculum De-Biasing:</a:t>
            </a:r>
          </a:p>
          <a:p>
            <a:pPr>
              <a:spcAft>
                <a:spcPts val="400"/>
              </a:spcAft>
            </a:pPr>
            <a:r>
              <a:rPr sz="1100">
                <a:solidFill>
                  <a:srgbClr val="1E293B"/>
                </a:solidFill>
                <a:latin typeface="Arial"/>
              </a:rPr>
              <a:t>•   - Warns students against spending money on big data cluster certifications.</a:t>
            </a:r>
          </a:p>
          <a:p>
            <a:pPr>
              <a:spcAft>
                <a:spcPts val="400"/>
              </a:spcAft>
            </a:pPr>
            <a:r>
              <a:rPr sz="1100">
                <a:solidFill>
                  <a:srgbClr val="1E293B"/>
                </a:solidFill>
                <a:latin typeface="Arial"/>
              </a:rPr>
              <a:t>•   - Prioritizes mathematical foundations (Linear Algebra, Bayes, Hypothesis Testing) with OR = 6.18.</a:t>
            </a:r>
          </a:p>
          <a:p>
            <a:pPr>
              <a:spcAft>
                <a:spcPts val="400"/>
              </a:spcAft>
            </a:pPr>
            <a:r>
              <a:rPr sz="1100">
                <a:solidFill>
                  <a:srgbClr val="1E293B"/>
                </a:solidFill>
                <a:latin typeface="Arial"/>
              </a:rPr>
              <a:t>• </a:t>
            </a:r>
          </a:p>
          <a:p>
            <a:pPr>
              <a:spcAft>
                <a:spcPts val="400"/>
              </a:spcAft>
            </a:pPr>
            <a:r>
              <a:rPr sz="1100">
                <a:solidFill>
                  <a:srgbClr val="1E293B"/>
                </a:solidFill>
                <a:latin typeface="Arial"/>
              </a:rPr>
              <a:t>• Predictive Readiness Score:</a:t>
            </a:r>
          </a:p>
          <a:p>
            <a:pPr>
              <a:spcAft>
                <a:spcPts val="400"/>
              </a:spcAft>
            </a:pPr>
            <a:r>
              <a:rPr sz="1100">
                <a:solidFill>
                  <a:srgbClr val="1E293B"/>
                </a:solidFill>
                <a:latin typeface="Arial"/>
              </a:rPr>
              <a:t>•   - Evaluates student self-assessments across 5 pillars.</a:t>
            </a:r>
          </a:p>
          <a:p>
            <a:pPr>
              <a:spcAft>
                <a:spcPts val="400"/>
              </a:spcAft>
            </a:pPr>
            <a:r>
              <a:rPr sz="1100">
                <a:solidFill>
                  <a:srgbClr val="1E293B"/>
                </a:solidFill>
                <a:latin typeface="Arial"/>
              </a:rPr>
              <a:t>•   - Runs live inference against 'jds_hike_model.joblib'.</a:t>
            </a:r>
          </a:p>
          <a:p>
            <a:pPr>
              <a:spcAft>
                <a:spcPts val="400"/>
              </a:spcAft>
            </a:pPr>
            <a:r>
              <a:rPr sz="1100">
                <a:solidFill>
                  <a:srgbClr val="1E293B"/>
                </a:solidFill>
                <a:latin typeface="Arial"/>
              </a:rPr>
              <a:t>•   - Generates probability of securing a High Salary Hike upon graduation.</a:t>
            </a:r>
          </a:p>
          <a:p>
            <a:pPr>
              <a:spcAft>
                <a:spcPts val="400"/>
              </a:spcAft>
            </a:pPr>
            <a:r>
              <a:rPr sz="1100">
                <a:solidFill>
                  <a:srgbClr val="1E293B"/>
                </a:solidFill>
                <a:latin typeface="Arial"/>
              </a:rPr>
              <a:t>• </a:t>
            </a:r>
          </a:p>
          <a:p>
            <a:pPr>
              <a:spcAft>
                <a:spcPts val="400"/>
              </a:spcAft>
            </a:pPr>
            <a:r>
              <a:rPr sz="1100">
                <a:solidFill>
                  <a:srgbClr val="1E293B"/>
                </a:solidFill>
                <a:latin typeface="Arial"/>
              </a:rPr>
              <a:t>• Portfolio Recommendations:</a:t>
            </a:r>
          </a:p>
          <a:p>
            <a:pPr>
              <a:spcAft>
                <a:spcPts val="400"/>
              </a:spcAft>
            </a:pPr>
            <a:r>
              <a:rPr sz="1100">
                <a:solidFill>
                  <a:srgbClr val="1E293B"/>
                </a:solidFill>
                <a:latin typeface="Arial"/>
              </a:rPr>
              <a:t>•   - Recommends end-to-end projects featuring clean code + executive presentation decks.</a:t>
            </a:r>
          </a:p>
        </p:txBody>
      </p:sp>
      <p:sp>
        <p:nvSpPr>
          <p:cNvPr id="6" name="Rounded Rectangle 5"/>
          <p:cNvSpPr/>
          <p:nvPr/>
        </p:nvSpPr>
        <p:spPr>
          <a:xfrm>
            <a:off x="6217920" y="1645920"/>
            <a:ext cx="5120640" cy="457200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Target Component: CareerReadinessScan.tsx</a:t>
            </a:r>
          </a:p>
          <a:p>
            <a:pPr>
              <a:spcAft>
                <a:spcPts val="400"/>
              </a:spcAft>
            </a:pPr>
            <a:r>
              <a:rPr sz="1100">
                <a:solidFill>
                  <a:srgbClr val="1E293B"/>
                </a:solidFill>
                <a:latin typeface="Arial"/>
              </a:rPr>
              <a:t>• Features Activated:</a:t>
            </a:r>
          </a:p>
          <a:p>
            <a:pPr>
              <a:spcAft>
                <a:spcPts val="400"/>
              </a:spcAft>
            </a:pPr>
            <a:r>
              <a:rPr sz="1100">
                <a:solidFill>
                  <a:srgbClr val="1E293B"/>
                </a:solidFill>
                <a:latin typeface="Arial"/>
              </a:rPr>
              <a:t>•   - 5-Pillar Competency Radar with live empirical comparison to High Hike cohorts.</a:t>
            </a:r>
          </a:p>
          <a:p>
            <a:pPr>
              <a:spcAft>
                <a:spcPts val="400"/>
              </a:spcAft>
            </a:pPr>
            <a:r>
              <a:rPr sz="1100">
                <a:solidFill>
                  <a:srgbClr val="1E293B"/>
                </a:solidFill>
                <a:latin typeface="Arial"/>
              </a:rPr>
              <a:t>•   - Dynamic Gap Diagnostic: Highlights whether math or storytelling is the limiting factor.</a:t>
            </a:r>
          </a:p>
          <a:p>
            <a:pPr>
              <a:spcAft>
                <a:spcPts val="400"/>
              </a:spcAft>
            </a:pPr>
            <a:r>
              <a:rPr sz="1100">
                <a:solidFill>
                  <a:srgbClr val="1E293B"/>
                </a:solidFill>
                <a:latin typeface="Arial"/>
              </a:rPr>
              <a:t>•   - First Job Target Filter: Connects students to entry-level vacancies in verified hiring hubs.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Persona Translation 3: Stagnant Professional Promotion Diagnostic</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Breaking the 15 LPA Plateau</a:t>
            </a:r>
          </a:p>
          <a:p>
            <a:pPr>
              <a:spcAft>
                <a:spcPts val="400"/>
              </a:spcAft>
            </a:pPr>
            <a:r>
              <a:rPr sz="1100">
                <a:solidFill>
                  <a:srgbClr val="1E293B"/>
                </a:solidFill>
                <a:latin typeface="Arial"/>
              </a:rPr>
              <a:t>• The Individual Contributor Trap:</a:t>
            </a:r>
          </a:p>
          <a:p>
            <a:pPr>
              <a:spcAft>
                <a:spcPts val="400"/>
              </a:spcAft>
            </a:pPr>
            <a:r>
              <a:rPr sz="1100">
                <a:solidFill>
                  <a:srgbClr val="1E293B"/>
                </a:solidFill>
                <a:latin typeface="Arial"/>
              </a:rPr>
              <a:t>•   - Explains why taking more coding certificates produces diminishing returns after 5 years.</a:t>
            </a:r>
          </a:p>
          <a:p>
            <a:pPr>
              <a:spcAft>
                <a:spcPts val="400"/>
              </a:spcAft>
            </a:pPr>
            <a:r>
              <a:rPr sz="1100">
                <a:solidFill>
                  <a:srgbClr val="1E293B"/>
                </a:solidFill>
                <a:latin typeface="Arial"/>
              </a:rPr>
              <a:t>• </a:t>
            </a:r>
          </a:p>
          <a:p>
            <a:pPr>
              <a:spcAft>
                <a:spcPts val="400"/>
              </a:spcAft>
            </a:pPr>
            <a:r>
              <a:rPr sz="1100">
                <a:solidFill>
                  <a:srgbClr val="1E293B"/>
                </a:solidFill>
                <a:latin typeface="Arial"/>
              </a:rPr>
              <a:t>• Executive Psychometric Assessment:</a:t>
            </a:r>
          </a:p>
          <a:p>
            <a:pPr>
              <a:spcAft>
                <a:spcPts val="400"/>
              </a:spcAft>
            </a:pPr>
            <a:r>
              <a:rPr sz="1100">
                <a:solidFill>
                  <a:srgbClr val="1E293B"/>
                </a:solidFill>
                <a:latin typeface="Arial"/>
              </a:rPr>
              <a:t>•   - Administers Big Five OCEAN diagnostic.</a:t>
            </a:r>
          </a:p>
          <a:p>
            <a:pPr>
              <a:spcAft>
                <a:spcPts val="400"/>
              </a:spcAft>
            </a:pPr>
            <a:r>
              <a:rPr sz="1100">
                <a:solidFill>
                  <a:srgbClr val="1E293B"/>
                </a:solidFill>
                <a:latin typeface="Arial"/>
              </a:rPr>
              <a:t>•   - Evaluates Conscientiousness (OR = 12.04) and Openness (OR = 14.70).</a:t>
            </a:r>
          </a:p>
          <a:p>
            <a:pPr>
              <a:spcAft>
                <a:spcPts val="400"/>
              </a:spcAft>
            </a:pPr>
            <a:r>
              <a:rPr sz="1100">
                <a:solidFill>
                  <a:srgbClr val="1E293B"/>
                </a:solidFill>
                <a:latin typeface="Arial"/>
              </a:rPr>
              <a:t>•   - Identifies behavioural gaps preventing promotion to Lead / Architect / Practice Head.</a:t>
            </a:r>
          </a:p>
          <a:p>
            <a:pPr>
              <a:spcAft>
                <a:spcPts val="400"/>
              </a:spcAft>
            </a:pPr>
            <a:r>
              <a:rPr sz="1100">
                <a:solidFill>
                  <a:srgbClr val="1E293B"/>
                </a:solidFill>
                <a:latin typeface="Arial"/>
              </a:rPr>
              <a:t>• </a:t>
            </a:r>
          </a:p>
          <a:p>
            <a:pPr>
              <a:spcAft>
                <a:spcPts val="400"/>
              </a:spcAft>
            </a:pPr>
            <a:r>
              <a:rPr sz="1100">
                <a:solidFill>
                  <a:srgbClr val="1E293B"/>
                </a:solidFill>
                <a:latin typeface="Arial"/>
              </a:rPr>
              <a:t>• Actionable Leadership Pathways:</a:t>
            </a:r>
          </a:p>
          <a:p>
            <a:pPr>
              <a:spcAft>
                <a:spcPts val="400"/>
              </a:spcAft>
            </a:pPr>
            <a:r>
              <a:rPr sz="1100">
                <a:solidFill>
                  <a:srgbClr val="1E293B"/>
                </a:solidFill>
                <a:latin typeface="Arial"/>
              </a:rPr>
              <a:t>•   - Shifts focus to project ownership, cross-functional stakeholder buy-in, and architectural innovation.</a:t>
            </a:r>
          </a:p>
        </p:txBody>
      </p:sp>
      <p:sp>
        <p:nvSpPr>
          <p:cNvPr id="6" name="Rounded Rectangle 5"/>
          <p:cNvSpPr/>
          <p:nvPr/>
        </p:nvSpPr>
        <p:spPr>
          <a:xfrm>
            <a:off x="6217920" y="1645920"/>
            <a:ext cx="5120640" cy="457200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Target Component: SeniorExecutiveReadiness.tsx</a:t>
            </a:r>
          </a:p>
          <a:p>
            <a:pPr>
              <a:spcAft>
                <a:spcPts val="400"/>
              </a:spcAft>
            </a:pPr>
            <a:r>
              <a:rPr sz="1100">
                <a:solidFill>
                  <a:srgbClr val="1E293B"/>
                </a:solidFill>
                <a:latin typeface="Arial"/>
              </a:rPr>
              <a:t>• Features Activated:</a:t>
            </a:r>
          </a:p>
          <a:p>
            <a:pPr>
              <a:spcAft>
                <a:spcPts val="400"/>
              </a:spcAft>
            </a:pPr>
            <a:r>
              <a:rPr sz="1100">
                <a:solidFill>
                  <a:srgbClr val="1E293B"/>
                </a:solidFill>
                <a:latin typeface="Arial"/>
              </a:rPr>
              <a:t>•   - OCEAN Leadership Profile with comparison against High Success Senior Leaders.</a:t>
            </a:r>
          </a:p>
          <a:p>
            <a:pPr>
              <a:spcAft>
                <a:spcPts val="400"/>
              </a:spcAft>
            </a:pPr>
            <a:r>
              <a:rPr sz="1100">
                <a:solidFill>
                  <a:srgbClr val="1E293B"/>
                </a:solidFill>
                <a:latin typeface="Arial"/>
              </a:rPr>
              <a:t>•   - Probability of Executive Transition via 'sds_success_model.joblib'.</a:t>
            </a:r>
          </a:p>
          <a:p>
            <a:pPr>
              <a:spcAft>
                <a:spcPts val="400"/>
              </a:spcAft>
            </a:pPr>
            <a:r>
              <a:rPr sz="1100">
                <a:solidFill>
                  <a:srgbClr val="1E293B"/>
                </a:solidFill>
                <a:latin typeface="Arial"/>
              </a:rPr>
              <a:t>•   - Behavioural Coaching Roadmap: Conscientious governance &amp; GenAI experimentation.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Codebase Modernization: Replacing Static Mocks with Real Science</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5120640" cy="4572000"/>
          </a:xfrm>
          <a:prstGeom prst="roundRect">
            <a:avLst/>
          </a:prstGeom>
          <a:solidFill>
            <a:srgbClr val="F1F5F9"/>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Before: Static Codebase Mocks</a:t>
            </a:r>
          </a:p>
          <a:p>
            <a:pPr>
              <a:spcAft>
                <a:spcPts val="400"/>
              </a:spcAft>
            </a:pPr>
            <a:r>
              <a:rPr sz="1100">
                <a:solidFill>
                  <a:srgbClr val="1E293B"/>
                </a:solidFill>
                <a:latin typeface="Arial"/>
              </a:rPr>
              <a:t>• 1. realSalaryBenchmarks.ts:</a:t>
            </a:r>
          </a:p>
          <a:p>
            <a:pPr>
              <a:spcAft>
                <a:spcPts val="400"/>
              </a:spcAft>
            </a:pPr>
            <a:r>
              <a:rPr sz="1100">
                <a:solidFill>
                  <a:srgbClr val="1E293B"/>
                </a:solidFill>
                <a:latin typeface="Arial"/>
              </a:rPr>
              <a:t>•    - Hardcoded numbers with unverified, unreferenced citations.</a:t>
            </a:r>
          </a:p>
          <a:p>
            <a:pPr>
              <a:spcAft>
                <a:spcPts val="400"/>
              </a:spcAft>
            </a:pPr>
            <a:r>
              <a:rPr sz="1100">
                <a:solidFill>
                  <a:srgbClr val="1E293B"/>
                </a:solidFill>
                <a:latin typeface="Arial"/>
              </a:rPr>
              <a:t>• </a:t>
            </a:r>
          </a:p>
          <a:p>
            <a:pPr>
              <a:spcAft>
                <a:spcPts val="400"/>
              </a:spcAft>
            </a:pPr>
            <a:r>
              <a:rPr sz="1100">
                <a:solidFill>
                  <a:srgbClr val="1E293B"/>
                </a:solidFill>
                <a:latin typeface="Arial"/>
              </a:rPr>
              <a:t>• 2. CompensationTrajectory.tsx:</a:t>
            </a:r>
          </a:p>
          <a:p>
            <a:pPr>
              <a:spcAft>
                <a:spcPts val="400"/>
              </a:spcAft>
            </a:pPr>
            <a:r>
              <a:rPr sz="1100">
                <a:solidFill>
                  <a:srgbClr val="1E293B"/>
                </a:solidFill>
                <a:latin typeface="Arial"/>
              </a:rPr>
              <a:t>•    - Arbitrary quadratic formula with zero empirical data fit.</a:t>
            </a:r>
          </a:p>
          <a:p>
            <a:pPr>
              <a:spcAft>
                <a:spcPts val="400"/>
              </a:spcAft>
            </a:pPr>
            <a:r>
              <a:rPr sz="1100">
                <a:solidFill>
                  <a:srgbClr val="1E293B"/>
                </a:solidFill>
                <a:latin typeface="Arial"/>
              </a:rPr>
              <a:t>• </a:t>
            </a:r>
          </a:p>
          <a:p>
            <a:pPr>
              <a:spcAft>
                <a:spcPts val="400"/>
              </a:spcAft>
            </a:pPr>
            <a:r>
              <a:rPr sz="1100">
                <a:solidFill>
                  <a:srgbClr val="1E293B"/>
                </a:solidFill>
                <a:latin typeface="Arial"/>
              </a:rPr>
              <a:t>• 3. CompanyCategoriesData.ts:</a:t>
            </a:r>
          </a:p>
          <a:p>
            <a:pPr>
              <a:spcAft>
                <a:spcPts val="400"/>
              </a:spcAft>
            </a:pPr>
            <a:r>
              <a:rPr sz="1100">
                <a:solidFill>
                  <a:srgbClr val="1E293B"/>
                </a:solidFill>
                <a:latin typeface="Arial"/>
              </a:rPr>
              <a:t>•    - Qualitative corporate lists with missing vacancy volumes.</a:t>
            </a:r>
          </a:p>
          <a:p>
            <a:pPr>
              <a:spcAft>
                <a:spcPts val="400"/>
              </a:spcAft>
            </a:pPr>
            <a:r>
              <a:rPr sz="1100">
                <a:solidFill>
                  <a:srgbClr val="1E293B"/>
                </a:solidFill>
                <a:latin typeface="Arial"/>
              </a:rPr>
              <a:t>• </a:t>
            </a:r>
          </a:p>
          <a:p>
            <a:pPr>
              <a:spcAft>
                <a:spcPts val="400"/>
              </a:spcAft>
            </a:pPr>
            <a:r>
              <a:rPr sz="1100">
                <a:solidFill>
                  <a:srgbClr val="1E293B"/>
                </a:solidFill>
                <a:latin typeface="Arial"/>
              </a:rPr>
              <a:t>• 4. PromotionReadiness.tsx:</a:t>
            </a:r>
          </a:p>
          <a:p>
            <a:pPr>
              <a:spcAft>
                <a:spcPts val="400"/>
              </a:spcAft>
            </a:pPr>
            <a:r>
              <a:rPr sz="1100">
                <a:solidFill>
                  <a:srgbClr val="1E293B"/>
                </a:solidFill>
                <a:latin typeface="Arial"/>
              </a:rPr>
              <a:t>•    - Static rule-of-thumb heuristics without probability calibration.</a:t>
            </a:r>
          </a:p>
        </p:txBody>
      </p:sp>
      <p:sp>
        <p:nvSpPr>
          <p:cNvPr id="6" name="Rounded Rectangle 5"/>
          <p:cNvSpPr/>
          <p:nvPr/>
        </p:nvSpPr>
        <p:spPr>
          <a:xfrm>
            <a:off x="6217920" y="1645920"/>
            <a:ext cx="5120640" cy="4572000"/>
          </a:xfrm>
          <a:prstGeom prst="roundRect">
            <a:avLst/>
          </a:prstGeom>
          <a:solidFill>
            <a:srgbClr val="F1F5F9"/>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754880" cy="4297680"/>
          </a:xfrm>
          <a:prstGeom prst="rect">
            <a:avLst/>
          </a:prstGeom>
          <a:noFill/>
        </p:spPr>
        <p:txBody>
          <a:bodyPr wrap="square" tIns="0" lIns="0" rIns="0">
            <a:spAutoFit/>
          </a:bodyPr>
          <a:lstStyle/>
          <a:p>
            <a:pPr>
              <a:spcAft>
                <a:spcPts val="600"/>
              </a:spcAft>
            </a:pPr>
            <a:r>
              <a:rPr sz="1300" b="1">
                <a:solidFill>
                  <a:srgbClr val="0F172A"/>
                </a:solidFill>
                <a:latin typeface="Arial"/>
              </a:rPr>
              <a:t>After: Empirical Econometric Engines</a:t>
            </a:r>
          </a:p>
          <a:p>
            <a:pPr>
              <a:spcAft>
                <a:spcPts val="400"/>
              </a:spcAft>
            </a:pPr>
            <a:r>
              <a:rPr sz="1100">
                <a:solidFill>
                  <a:srgbClr val="1E293B"/>
                </a:solidFill>
                <a:latin typeface="Arial"/>
              </a:rPr>
              <a:t>• 1. table1 &amp; table2 Benchmarks:</a:t>
            </a:r>
          </a:p>
          <a:p>
            <a:pPr>
              <a:spcAft>
                <a:spcPts val="400"/>
              </a:spcAft>
            </a:pPr>
            <a:r>
              <a:rPr sz="1100">
                <a:solidFill>
                  <a:srgbClr val="1E293B"/>
                </a:solidFill>
                <a:latin typeface="Arial"/>
              </a:rPr>
              <a:t>•    - 100% verified medians &amp; IQRs across 1,602 real Indian postings.</a:t>
            </a:r>
          </a:p>
          <a:p>
            <a:pPr>
              <a:spcAft>
                <a:spcPts val="400"/>
              </a:spcAft>
            </a:pPr>
            <a:r>
              <a:rPr sz="1100">
                <a:solidFill>
                  <a:srgbClr val="1E293B"/>
                </a:solidFill>
                <a:latin typeface="Arial"/>
              </a:rPr>
              <a:t>• </a:t>
            </a:r>
          </a:p>
          <a:p>
            <a:pPr>
              <a:spcAft>
                <a:spcPts val="400"/>
              </a:spcAft>
            </a:pPr>
            <a:r>
              <a:rPr sz="1100">
                <a:solidFill>
                  <a:srgbClr val="1E293B"/>
                </a:solidFill>
                <a:latin typeface="Arial"/>
              </a:rPr>
              <a:t>• 2. table3 Mincerian OLS Equation:</a:t>
            </a:r>
          </a:p>
          <a:p>
            <a:pPr>
              <a:spcAft>
                <a:spcPts val="400"/>
              </a:spcAft>
            </a:pPr>
            <a:r>
              <a:rPr sz="1100">
                <a:solidFill>
                  <a:srgbClr val="1E293B"/>
                </a:solidFill>
                <a:latin typeface="Arial"/>
              </a:rPr>
              <a:t>•    - Salary = 1.724 + 1.638 × Exp (R² = 0.434, F = 1,228.4).</a:t>
            </a:r>
          </a:p>
          <a:p>
            <a:pPr>
              <a:spcAft>
                <a:spcPts val="400"/>
              </a:spcAft>
            </a:pPr>
            <a:r>
              <a:rPr sz="1100">
                <a:solidFill>
                  <a:srgbClr val="1E293B"/>
                </a:solidFill>
                <a:latin typeface="Arial"/>
              </a:rPr>
              <a:t>• </a:t>
            </a:r>
          </a:p>
          <a:p>
            <a:pPr>
              <a:spcAft>
                <a:spcPts val="400"/>
              </a:spcAft>
            </a:pPr>
            <a:r>
              <a:rPr sz="1100">
                <a:solidFill>
                  <a:srgbClr val="1E293B"/>
                </a:solidFill>
                <a:latin typeface="Arial"/>
              </a:rPr>
              <a:t>• 3. table3b Pareto Distribution:</a:t>
            </a:r>
          </a:p>
          <a:p>
            <a:pPr>
              <a:spcAft>
                <a:spcPts val="400"/>
              </a:spcAft>
            </a:pPr>
            <a:r>
              <a:rPr sz="1100">
                <a:solidFill>
                  <a:srgbClr val="1E293B"/>
                </a:solidFill>
                <a:latin typeface="Arial"/>
              </a:rPr>
              <a:t>•    - Real top 15 employer vacancy counts (52% concentration).</a:t>
            </a:r>
          </a:p>
          <a:p>
            <a:pPr>
              <a:spcAft>
                <a:spcPts val="400"/>
              </a:spcAft>
            </a:pPr>
            <a:r>
              <a:rPr sz="1100">
                <a:solidFill>
                  <a:srgbClr val="1E293B"/>
                </a:solidFill>
                <a:latin typeface="Arial"/>
              </a:rPr>
              <a:t>• </a:t>
            </a:r>
          </a:p>
          <a:p>
            <a:pPr>
              <a:spcAft>
                <a:spcPts val="400"/>
              </a:spcAft>
            </a:pPr>
            <a:r>
              <a:rPr sz="1100">
                <a:solidFill>
                  <a:srgbClr val="1E293B"/>
                </a:solidFill>
                <a:latin typeface="Arial"/>
              </a:rPr>
              <a:t>• 4. jds_hike_model &amp; sds_success_model:</a:t>
            </a:r>
          </a:p>
          <a:p>
            <a:pPr>
              <a:spcAft>
                <a:spcPts val="400"/>
              </a:spcAft>
            </a:pPr>
            <a:r>
              <a:rPr sz="1100">
                <a:solidFill>
                  <a:srgbClr val="1E293B"/>
                </a:solidFill>
                <a:latin typeface="Arial"/>
              </a:rPr>
              <a:t>•    - Serialized ML pipelines with 0.903 and 0.995 ROC-AUC.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tIns="0" bIns="0" lIns="0" rIns="0">
            <a:spAutoFit/>
          </a:bodyPr>
          <a:lstStyle/>
          <a:p>
            <a:pPr>
              <a:spcAft>
                <a:spcPts val="200"/>
              </a:spcAft>
            </a:pPr>
            <a:r>
              <a:rPr sz="1000" b="1">
                <a:solidFill>
                  <a:srgbClr val="2563EB"/>
                </a:solidFill>
                <a:latin typeface="Arial"/>
              </a:rPr>
              <a:t>SAS × CU NATIONAL HACKATHON | PUNARSHURU</a:t>
            </a:r>
          </a:p>
          <a:p>
            <a:r>
              <a:rPr sz="2200" b="1">
                <a:solidFill>
                  <a:srgbClr val="0F172A"/>
                </a:solidFill>
                <a:latin typeface="Arial"/>
              </a:rPr>
              <a:t>Conclusion &amp; Strategic Roadmap: From Analysis to National Impact</a:t>
            </a:r>
          </a:p>
        </p:txBody>
      </p:sp>
      <p:sp>
        <p:nvSpPr>
          <p:cNvPr id="3" name="Rectangle 2"/>
          <p:cNvSpPr/>
          <p:nvPr/>
        </p:nvSpPr>
        <p:spPr>
          <a:xfrm>
            <a:off x="731520" y="1371600"/>
            <a:ext cx="1069848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32918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1. Academic &amp; Analytical Rigor</a:t>
            </a:r>
          </a:p>
          <a:p>
            <a:pPr>
              <a:spcAft>
                <a:spcPts val="400"/>
              </a:spcAft>
            </a:pPr>
            <a:r>
              <a:rPr sz="1100">
                <a:solidFill>
                  <a:srgbClr val="1E293B"/>
                </a:solidFill>
                <a:latin typeface="Arial"/>
              </a:rPr>
              <a:t>• 100% mathematically reproducible.</a:t>
            </a:r>
          </a:p>
          <a:p>
            <a:pPr>
              <a:spcAft>
                <a:spcPts val="400"/>
              </a:spcAft>
            </a:pPr>
            <a:r>
              <a:rPr sz="1100">
                <a:solidFill>
                  <a:srgbClr val="1E293B"/>
                </a:solidFill>
                <a:latin typeface="Arial"/>
              </a:rPr>
              <a:t>• Global random seed: 42.</a:t>
            </a:r>
          </a:p>
          <a:p>
            <a:pPr>
              <a:spcAft>
                <a:spcPts val="400"/>
              </a:spcAft>
            </a:pPr>
            <a:r>
              <a:rPr sz="1100">
                <a:solidFill>
                  <a:srgbClr val="1E293B"/>
                </a:solidFill>
                <a:latin typeface="Arial"/>
              </a:rPr>
              <a:t>• All claims backed by parametric &amp; non-parametric tests.</a:t>
            </a:r>
          </a:p>
          <a:p>
            <a:pPr>
              <a:spcAft>
                <a:spcPts val="400"/>
              </a:spcAft>
            </a:pPr>
            <a:r>
              <a:rPr sz="1100">
                <a:solidFill>
                  <a:srgbClr val="1E293B"/>
                </a:solidFill>
                <a:latin typeface="Arial"/>
              </a:rPr>
              <a:t>• Full 20-page Approach Note submitted.</a:t>
            </a:r>
          </a:p>
        </p:txBody>
      </p:sp>
      <p:sp>
        <p:nvSpPr>
          <p:cNvPr id="6" name="Rounded Rectangle 5"/>
          <p:cNvSpPr/>
          <p:nvPr/>
        </p:nvSpPr>
        <p:spPr>
          <a:xfrm>
            <a:off x="4389120" y="1645920"/>
            <a:ext cx="32918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2. Product &amp; Engineering Value</a:t>
            </a:r>
          </a:p>
          <a:p>
            <a:pPr>
              <a:spcAft>
                <a:spcPts val="400"/>
              </a:spcAft>
            </a:pPr>
            <a:r>
              <a:rPr sz="1100">
                <a:solidFill>
                  <a:srgbClr val="1E293B"/>
                </a:solidFill>
                <a:latin typeface="Arial"/>
              </a:rPr>
              <a:t>• Seamless integration into Punarshuru.</a:t>
            </a:r>
          </a:p>
          <a:p>
            <a:pPr>
              <a:spcAft>
                <a:spcPts val="400"/>
              </a:spcAft>
            </a:pPr>
            <a:r>
              <a:rPr sz="1100">
                <a:solidFill>
                  <a:srgbClr val="1E293B"/>
                </a:solidFill>
                <a:latin typeface="Arial"/>
              </a:rPr>
              <a:t>• Zero breaking changes to existing codebase.</a:t>
            </a:r>
          </a:p>
          <a:p>
            <a:pPr>
              <a:spcAft>
                <a:spcPts val="400"/>
              </a:spcAft>
            </a:pPr>
            <a:r>
              <a:rPr sz="1100">
                <a:solidFill>
                  <a:srgbClr val="1E293B"/>
                </a:solidFill>
                <a:latin typeface="Arial"/>
              </a:rPr>
              <a:t>• FastAPI backend + React frontend.</a:t>
            </a:r>
          </a:p>
          <a:p>
            <a:pPr>
              <a:spcAft>
                <a:spcPts val="400"/>
              </a:spcAft>
            </a:pPr>
            <a:r>
              <a:rPr sz="1100">
                <a:solidFill>
                  <a:srgbClr val="1E293B"/>
                </a:solidFill>
                <a:latin typeface="Arial"/>
              </a:rPr>
              <a:t>• Live ML inference pipelines.</a:t>
            </a:r>
          </a:p>
        </p:txBody>
      </p:sp>
      <p:sp>
        <p:nvSpPr>
          <p:cNvPr id="8" name="Rounded Rectangle 7"/>
          <p:cNvSpPr/>
          <p:nvPr/>
        </p:nvSpPr>
        <p:spPr>
          <a:xfrm>
            <a:off x="8046720" y="1645920"/>
            <a:ext cx="3291840" cy="4572000"/>
          </a:xfrm>
          <a:prstGeom prst="roundRect">
            <a:avLst/>
          </a:prstGeom>
          <a:solidFill>
            <a:srgbClr val="F1F5F9"/>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783080"/>
            <a:ext cx="2926080" cy="4297680"/>
          </a:xfrm>
          <a:prstGeom prst="rect">
            <a:avLst/>
          </a:prstGeom>
          <a:noFill/>
        </p:spPr>
        <p:txBody>
          <a:bodyPr wrap="square" tIns="0" lIns="0" rIns="0">
            <a:spAutoFit/>
          </a:bodyPr>
          <a:lstStyle/>
          <a:p>
            <a:pPr>
              <a:spcAft>
                <a:spcPts val="600"/>
              </a:spcAft>
            </a:pPr>
            <a:r>
              <a:rPr sz="1300" b="1">
                <a:solidFill>
                  <a:srgbClr val="0F172A"/>
                </a:solidFill>
                <a:latin typeface="Arial"/>
              </a:rPr>
              <a:t>3. Scalability &amp; Future Vision</a:t>
            </a:r>
          </a:p>
          <a:p>
            <a:pPr>
              <a:spcAft>
                <a:spcPts val="400"/>
              </a:spcAft>
            </a:pPr>
            <a:r>
              <a:rPr sz="1100">
                <a:solidFill>
                  <a:srgbClr val="1E293B"/>
                </a:solidFill>
                <a:latin typeface="Arial"/>
              </a:rPr>
              <a:t>• Incorporate SAS Visual Analytics real-time feeds.</a:t>
            </a:r>
          </a:p>
          <a:p>
            <a:pPr>
              <a:spcAft>
                <a:spcPts val="400"/>
              </a:spcAft>
            </a:pPr>
            <a:r>
              <a:rPr sz="1100">
                <a:solidFill>
                  <a:srgbClr val="1E293B"/>
                </a:solidFill>
                <a:latin typeface="Arial"/>
              </a:rPr>
              <a:t>• Expand NLP skill parsing to vernacular Indian resumes.</a:t>
            </a:r>
          </a:p>
          <a:p>
            <a:pPr>
              <a:spcAft>
                <a:spcPts val="400"/>
              </a:spcAft>
            </a:pPr>
            <a:r>
              <a:rPr sz="1100">
                <a:solidFill>
                  <a:srgbClr val="1E293B"/>
                </a:solidFill>
                <a:latin typeface="Arial"/>
              </a:rPr>
              <a:t>• Partner with state employment skilling initiatives.</a:t>
            </a:r>
          </a:p>
          <a:p>
            <a:pPr>
              <a:spcAft>
                <a:spcPts val="400"/>
              </a:spcAft>
            </a:pPr>
            <a:r>
              <a:rPr sz="1100">
                <a:solidFill>
                  <a:srgbClr val="1E293B"/>
                </a:solidFill>
                <a:latin typeface="Arial"/>
              </a:rPr>
              <a:t>• Open Q&amp;A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